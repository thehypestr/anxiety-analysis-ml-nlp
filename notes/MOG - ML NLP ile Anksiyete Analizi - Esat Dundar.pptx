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9"/>
  </p:notesMasterIdLst>
  <p:handoutMasterIdLst>
    <p:handoutMasterId r:id="rId30"/>
  </p:handoutMasterIdLst>
  <p:sldIdLst>
    <p:sldId id="256" r:id="rId5"/>
    <p:sldId id="277" r:id="rId6"/>
    <p:sldId id="261" r:id="rId7"/>
    <p:sldId id="262" r:id="rId8"/>
    <p:sldId id="289" r:id="rId9"/>
    <p:sldId id="264" r:id="rId10"/>
    <p:sldId id="282" r:id="rId11"/>
    <p:sldId id="295" r:id="rId12"/>
    <p:sldId id="258" r:id="rId13"/>
    <p:sldId id="266" r:id="rId14"/>
    <p:sldId id="278" r:id="rId15"/>
    <p:sldId id="296" r:id="rId16"/>
    <p:sldId id="297" r:id="rId17"/>
    <p:sldId id="298" r:id="rId18"/>
    <p:sldId id="299" r:id="rId19"/>
    <p:sldId id="294" r:id="rId20"/>
    <p:sldId id="293" r:id="rId21"/>
    <p:sldId id="271" r:id="rId22"/>
    <p:sldId id="260" r:id="rId23"/>
    <p:sldId id="300" r:id="rId24"/>
    <p:sldId id="301" r:id="rId25"/>
    <p:sldId id="302" r:id="rId26"/>
    <p:sldId id="270" r:id="rId27"/>
    <p:sldId id="276" r:id="rId28"/>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Yaza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6540" y="181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F9ECB12-CFC6-4350-A4DE-F8F826AE66F1}" type="datetime1">
              <a:rPr lang="tr-TR" smtClean="0"/>
              <a:t>27.05.2025</a:t>
            </a:fld>
            <a:endParaRPr lang="tr-TR" dirty="0"/>
          </a:p>
        </p:txBody>
      </p:sp>
      <p:sp>
        <p:nvSpPr>
          <p:cNvPr id="4" name="Alt Bilgi Yer Tutucusu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tr-TR" smtClean="0"/>
              <a:t>‹#›</a:t>
            </a:fld>
            <a:endParaRPr lang="tr-TR"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9799371-706D-44BC-B89E-BBDA88FAFD5A}" type="datetime1">
              <a:rPr lang="tr-TR" noProof="0" smtClean="0"/>
              <a:t>27.05.2025</a:t>
            </a:fld>
            <a:endParaRPr lang="tr-TR" noProof="0"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tr-TR" noProof="0" smtClean="0"/>
              <a:t>‹#›</a:t>
            </a:fld>
            <a:endParaRPr lang="tr-TR" noProof="0"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a:t>
            </a:fld>
            <a:endParaRPr lang="tr-TR" dirty="0"/>
          </a:p>
        </p:txBody>
      </p:sp>
    </p:spTree>
    <p:extLst>
      <p:ext uri="{BB962C8B-B14F-4D97-AF65-F5344CB8AC3E}">
        <p14:creationId xmlns:p14="http://schemas.microsoft.com/office/powerpoint/2010/main" val="2133298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2</a:t>
            </a:fld>
            <a:endParaRPr lang="tr-TR" dirty="0"/>
          </a:p>
        </p:txBody>
      </p:sp>
    </p:spTree>
    <p:extLst>
      <p:ext uri="{BB962C8B-B14F-4D97-AF65-F5344CB8AC3E}">
        <p14:creationId xmlns:p14="http://schemas.microsoft.com/office/powerpoint/2010/main" val="1846568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3</a:t>
            </a:fld>
            <a:endParaRPr lang="tr-TR" dirty="0"/>
          </a:p>
        </p:txBody>
      </p:sp>
    </p:spTree>
    <p:extLst>
      <p:ext uri="{BB962C8B-B14F-4D97-AF65-F5344CB8AC3E}">
        <p14:creationId xmlns:p14="http://schemas.microsoft.com/office/powerpoint/2010/main" val="3423420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5"/>
          </p:nvPr>
        </p:nvSpPr>
        <p:spPr/>
        <p:txBody>
          <a:bodyPr rtlCol="0"/>
          <a:lstStyle/>
          <a:p>
            <a:pPr rtl="0"/>
            <a:fld id="{D4B9A9E5-4F7F-4A7D-9DE1-899232329269}" type="slidenum">
              <a:rPr lang="tr-TR" smtClean="0"/>
              <a:t>4</a:t>
            </a:fld>
            <a:endParaRPr lang="tr-TR" dirty="0"/>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5</a:t>
            </a:fld>
            <a:endParaRPr lang="tr-TR" dirty="0"/>
          </a:p>
        </p:txBody>
      </p:sp>
    </p:spTree>
    <p:extLst>
      <p:ext uri="{BB962C8B-B14F-4D97-AF65-F5344CB8AC3E}">
        <p14:creationId xmlns:p14="http://schemas.microsoft.com/office/powerpoint/2010/main" val="2119066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6</a:t>
            </a:fld>
            <a:endParaRPr lang="tr-TR" dirty="0"/>
          </a:p>
        </p:txBody>
      </p:sp>
    </p:spTree>
    <p:extLst>
      <p:ext uri="{BB962C8B-B14F-4D97-AF65-F5344CB8AC3E}">
        <p14:creationId xmlns:p14="http://schemas.microsoft.com/office/powerpoint/2010/main" val="2066317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tr-T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tr-TR"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3609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61933-DBF4-A9AA-2AFC-F097131F5D6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60A8E95-3D9D-889A-A8A1-7299C5233C7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4FAF802-1B0A-77A1-A01C-05CC13D6AE0B}"/>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8DF1689D-6034-5C1B-E49B-DB193E4C8566}"/>
              </a:ext>
            </a:extLst>
          </p:cNvPr>
          <p:cNvSpPr>
            <a:spLocks noGrp="1"/>
          </p:cNvSpPr>
          <p:nvPr>
            <p:ph type="sldNum" sz="quarter" idx="5"/>
          </p:nvPr>
        </p:nvSpPr>
        <p:spPr/>
        <p:txBody>
          <a:bodyPr/>
          <a:lstStyle/>
          <a:p>
            <a:pPr rtl="0"/>
            <a:fld id="{D4B9A9E5-4F7F-4A7D-9DE1-899232329269}" type="slidenum">
              <a:rPr lang="tr-TR" smtClean="0"/>
              <a:t>8</a:t>
            </a:fld>
            <a:endParaRPr lang="tr-TR" dirty="0"/>
          </a:p>
        </p:txBody>
      </p:sp>
    </p:spTree>
    <p:extLst>
      <p:ext uri="{BB962C8B-B14F-4D97-AF65-F5344CB8AC3E}">
        <p14:creationId xmlns:p14="http://schemas.microsoft.com/office/powerpoint/2010/main" val="1959088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9</a:t>
            </a:fld>
            <a:endParaRPr lang="tr-TR" dirty="0"/>
          </a:p>
        </p:txBody>
      </p:sp>
    </p:spTree>
    <p:extLst>
      <p:ext uri="{BB962C8B-B14F-4D97-AF65-F5344CB8AC3E}">
        <p14:creationId xmlns:p14="http://schemas.microsoft.com/office/powerpoint/2010/main" val="69041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10</a:t>
            </a:fld>
            <a:endParaRPr lang="tr-TR" dirty="0"/>
          </a:p>
        </p:txBody>
      </p:sp>
    </p:spTree>
    <p:extLst>
      <p:ext uri="{BB962C8B-B14F-4D97-AF65-F5344CB8AC3E}">
        <p14:creationId xmlns:p14="http://schemas.microsoft.com/office/powerpoint/2010/main" val="3832830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11</a:t>
            </a:fld>
            <a:endParaRPr lang="tr-TR" dirty="0"/>
          </a:p>
        </p:txBody>
      </p:sp>
    </p:spTree>
    <p:extLst>
      <p:ext uri="{BB962C8B-B14F-4D97-AF65-F5344CB8AC3E}">
        <p14:creationId xmlns:p14="http://schemas.microsoft.com/office/powerpoint/2010/main" val="3095590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5F6F2-8E72-4450-DB25-EAF12FFF70C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132C0D0-01CB-0290-7D0B-A5C27D64292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7757711-E6B0-2E50-7531-26170B7DF18C}"/>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2135E03B-D114-A6CD-8FEA-142C003FA2B3}"/>
              </a:ext>
            </a:extLst>
          </p:cNvPr>
          <p:cNvSpPr>
            <a:spLocks noGrp="1"/>
          </p:cNvSpPr>
          <p:nvPr>
            <p:ph type="sldNum" sz="quarter" idx="5"/>
          </p:nvPr>
        </p:nvSpPr>
        <p:spPr/>
        <p:txBody>
          <a:bodyPr/>
          <a:lstStyle/>
          <a:p>
            <a:pPr rtl="0"/>
            <a:fld id="{D4B9A9E5-4F7F-4A7D-9DE1-899232329269}" type="slidenum">
              <a:rPr lang="tr-TR" smtClean="0"/>
              <a:t>12</a:t>
            </a:fld>
            <a:endParaRPr lang="tr-TR" dirty="0"/>
          </a:p>
        </p:txBody>
      </p:sp>
    </p:spTree>
    <p:extLst>
      <p:ext uri="{BB962C8B-B14F-4D97-AF65-F5344CB8AC3E}">
        <p14:creationId xmlns:p14="http://schemas.microsoft.com/office/powerpoint/2010/main" val="29808598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1DFE-5A60-D7E8-E521-B0ABAB63000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414ED4C-135D-7572-5102-16D6FAE5BF8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BAC4E9C-9DED-74D7-1137-8AF9E5329E0A}"/>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FFA251C5-E120-4E73-F266-ADFBB1E228A6}"/>
              </a:ext>
            </a:extLst>
          </p:cNvPr>
          <p:cNvSpPr>
            <a:spLocks noGrp="1"/>
          </p:cNvSpPr>
          <p:nvPr>
            <p:ph type="sldNum" sz="quarter" idx="5"/>
          </p:nvPr>
        </p:nvSpPr>
        <p:spPr/>
        <p:txBody>
          <a:bodyPr/>
          <a:lstStyle/>
          <a:p>
            <a:pPr rtl="0"/>
            <a:fld id="{D4B9A9E5-4F7F-4A7D-9DE1-899232329269}" type="slidenum">
              <a:rPr lang="tr-TR" smtClean="0"/>
              <a:t>13</a:t>
            </a:fld>
            <a:endParaRPr lang="tr-TR" dirty="0"/>
          </a:p>
        </p:txBody>
      </p:sp>
    </p:spTree>
    <p:extLst>
      <p:ext uri="{BB962C8B-B14F-4D97-AF65-F5344CB8AC3E}">
        <p14:creationId xmlns:p14="http://schemas.microsoft.com/office/powerpoint/2010/main" val="1754890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AC29-9B99-6932-8E61-4085B575077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1B6C562-980B-3524-E1C7-5D3F4308058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1E7457E-BA93-24D8-81F6-A267E6C7C05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61F4F42-D3F1-C0CF-9D97-F328C0838D6A}"/>
              </a:ext>
            </a:extLst>
          </p:cNvPr>
          <p:cNvSpPr>
            <a:spLocks noGrp="1"/>
          </p:cNvSpPr>
          <p:nvPr>
            <p:ph type="sldNum" sz="quarter" idx="5"/>
          </p:nvPr>
        </p:nvSpPr>
        <p:spPr/>
        <p:txBody>
          <a:bodyPr/>
          <a:lstStyle/>
          <a:p>
            <a:pPr rtl="0"/>
            <a:fld id="{D4B9A9E5-4F7F-4A7D-9DE1-899232329269}" type="slidenum">
              <a:rPr lang="tr-TR" smtClean="0"/>
              <a:t>14</a:t>
            </a:fld>
            <a:endParaRPr lang="tr-TR" dirty="0"/>
          </a:p>
        </p:txBody>
      </p:sp>
    </p:spTree>
    <p:extLst>
      <p:ext uri="{BB962C8B-B14F-4D97-AF65-F5344CB8AC3E}">
        <p14:creationId xmlns:p14="http://schemas.microsoft.com/office/powerpoint/2010/main" val="1233681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CC703-B629-110F-6F72-424157E8A50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7633F26-2125-1228-C3DC-F43F60B806B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A8510A7-1275-2A2B-49B2-14B6BFEE5C4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4876A54-3119-AC57-A432-0B2C4D5B439D}"/>
              </a:ext>
            </a:extLst>
          </p:cNvPr>
          <p:cNvSpPr>
            <a:spLocks noGrp="1"/>
          </p:cNvSpPr>
          <p:nvPr>
            <p:ph type="sldNum" sz="quarter" idx="5"/>
          </p:nvPr>
        </p:nvSpPr>
        <p:spPr/>
        <p:txBody>
          <a:bodyPr/>
          <a:lstStyle/>
          <a:p>
            <a:pPr rtl="0"/>
            <a:fld id="{D4B9A9E5-4F7F-4A7D-9DE1-899232329269}" type="slidenum">
              <a:rPr lang="tr-TR" smtClean="0"/>
              <a:t>15</a:t>
            </a:fld>
            <a:endParaRPr lang="tr-TR" dirty="0"/>
          </a:p>
        </p:txBody>
      </p:sp>
    </p:spTree>
    <p:extLst>
      <p:ext uri="{BB962C8B-B14F-4D97-AF65-F5344CB8AC3E}">
        <p14:creationId xmlns:p14="http://schemas.microsoft.com/office/powerpoint/2010/main" val="283605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BC666-F7A6-2840-6094-41B4F8AE882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C6DDD9AC-7966-2900-3B37-32F6D29F847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D0241C9-8DB2-97AA-5C28-DC2871515124}"/>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1D220C6D-1574-062D-FF79-5F9099B6D1B0}"/>
              </a:ext>
            </a:extLst>
          </p:cNvPr>
          <p:cNvSpPr>
            <a:spLocks noGrp="1"/>
          </p:cNvSpPr>
          <p:nvPr>
            <p:ph type="sldNum" sz="quarter" idx="5"/>
          </p:nvPr>
        </p:nvSpPr>
        <p:spPr/>
        <p:txBody>
          <a:bodyPr/>
          <a:lstStyle/>
          <a:p>
            <a:pPr rtl="0"/>
            <a:fld id="{D4B9A9E5-4F7F-4A7D-9DE1-899232329269}" type="slidenum">
              <a:rPr lang="tr-TR" smtClean="0"/>
              <a:t>16</a:t>
            </a:fld>
            <a:endParaRPr lang="tr-TR" dirty="0"/>
          </a:p>
        </p:txBody>
      </p:sp>
    </p:spTree>
    <p:extLst>
      <p:ext uri="{BB962C8B-B14F-4D97-AF65-F5344CB8AC3E}">
        <p14:creationId xmlns:p14="http://schemas.microsoft.com/office/powerpoint/2010/main" val="980222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17</a:t>
            </a:fld>
            <a:endParaRPr lang="tr-TR" dirty="0"/>
          </a:p>
        </p:txBody>
      </p:sp>
    </p:spTree>
    <p:extLst>
      <p:ext uri="{BB962C8B-B14F-4D97-AF65-F5344CB8AC3E}">
        <p14:creationId xmlns:p14="http://schemas.microsoft.com/office/powerpoint/2010/main" val="1149562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18</a:t>
            </a:fld>
            <a:endParaRPr lang="tr-TR" dirty="0"/>
          </a:p>
        </p:txBody>
      </p:sp>
    </p:spTree>
    <p:extLst>
      <p:ext uri="{BB962C8B-B14F-4D97-AF65-F5344CB8AC3E}">
        <p14:creationId xmlns:p14="http://schemas.microsoft.com/office/powerpoint/2010/main" val="13032944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19</a:t>
            </a:fld>
            <a:endParaRPr lang="tr-TR" dirty="0"/>
          </a:p>
        </p:txBody>
      </p:sp>
    </p:spTree>
    <p:extLst>
      <p:ext uri="{BB962C8B-B14F-4D97-AF65-F5344CB8AC3E}">
        <p14:creationId xmlns:p14="http://schemas.microsoft.com/office/powerpoint/2010/main" val="476951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5FE30-5BD1-D075-2AAC-C7B4B29FA8D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5AFD15C4-6308-5145-A777-4C78AC9D946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F02CB5E-7522-A827-F29C-BC07891C4C5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5B34C50A-2E95-B8D7-D94C-73C0E76294A5}"/>
              </a:ext>
            </a:extLst>
          </p:cNvPr>
          <p:cNvSpPr>
            <a:spLocks noGrp="1"/>
          </p:cNvSpPr>
          <p:nvPr>
            <p:ph type="sldNum" sz="quarter" idx="5"/>
          </p:nvPr>
        </p:nvSpPr>
        <p:spPr/>
        <p:txBody>
          <a:bodyPr/>
          <a:lstStyle/>
          <a:p>
            <a:pPr rtl="0"/>
            <a:fld id="{D4B9A9E5-4F7F-4A7D-9DE1-899232329269}" type="slidenum">
              <a:rPr lang="tr-TR" smtClean="0"/>
              <a:t>20</a:t>
            </a:fld>
            <a:endParaRPr lang="tr-TR" dirty="0"/>
          </a:p>
        </p:txBody>
      </p:sp>
    </p:spTree>
    <p:extLst>
      <p:ext uri="{BB962C8B-B14F-4D97-AF65-F5344CB8AC3E}">
        <p14:creationId xmlns:p14="http://schemas.microsoft.com/office/powerpoint/2010/main" val="34110868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7BA29-1F8D-8A20-8998-981841F91F5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7E6C26D-5641-A7F2-F69C-88D821E43E3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8AB077D-1C4D-BF02-7511-9A34A0F0826F}"/>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D4727979-E4D8-5E6A-6BBA-EC9CAFC886C5}"/>
              </a:ext>
            </a:extLst>
          </p:cNvPr>
          <p:cNvSpPr>
            <a:spLocks noGrp="1"/>
          </p:cNvSpPr>
          <p:nvPr>
            <p:ph type="sldNum" sz="quarter" idx="5"/>
          </p:nvPr>
        </p:nvSpPr>
        <p:spPr/>
        <p:txBody>
          <a:bodyPr/>
          <a:lstStyle/>
          <a:p>
            <a:pPr rtl="0"/>
            <a:fld id="{D4B9A9E5-4F7F-4A7D-9DE1-899232329269}" type="slidenum">
              <a:rPr lang="tr-TR" smtClean="0"/>
              <a:t>21</a:t>
            </a:fld>
            <a:endParaRPr lang="tr-TR" dirty="0"/>
          </a:p>
        </p:txBody>
      </p:sp>
    </p:spTree>
    <p:extLst>
      <p:ext uri="{BB962C8B-B14F-4D97-AF65-F5344CB8AC3E}">
        <p14:creationId xmlns:p14="http://schemas.microsoft.com/office/powerpoint/2010/main" val="26843055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9289-9340-4431-7B76-1D08A02B5EC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E8CE695-78C0-68A7-EA5B-4CE5A1CEF58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FF28317-A592-0AD8-6A09-FA1B344B0168}"/>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A8BDA09D-3BE3-7BED-15FD-AE89DD3A525E}"/>
              </a:ext>
            </a:extLst>
          </p:cNvPr>
          <p:cNvSpPr>
            <a:spLocks noGrp="1"/>
          </p:cNvSpPr>
          <p:nvPr>
            <p:ph type="sldNum" sz="quarter" idx="5"/>
          </p:nvPr>
        </p:nvSpPr>
        <p:spPr/>
        <p:txBody>
          <a:bodyPr/>
          <a:lstStyle/>
          <a:p>
            <a:pPr rtl="0"/>
            <a:fld id="{D4B9A9E5-4F7F-4A7D-9DE1-899232329269}" type="slidenum">
              <a:rPr lang="tr-TR" smtClean="0"/>
              <a:t>22</a:t>
            </a:fld>
            <a:endParaRPr lang="tr-TR" dirty="0"/>
          </a:p>
        </p:txBody>
      </p:sp>
    </p:spTree>
    <p:extLst>
      <p:ext uri="{BB962C8B-B14F-4D97-AF65-F5344CB8AC3E}">
        <p14:creationId xmlns:p14="http://schemas.microsoft.com/office/powerpoint/2010/main" val="1998620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23</a:t>
            </a:fld>
            <a:endParaRPr lang="tr-TR" dirty="0"/>
          </a:p>
        </p:txBody>
      </p:sp>
    </p:spTree>
    <p:extLst>
      <p:ext uri="{BB962C8B-B14F-4D97-AF65-F5344CB8AC3E}">
        <p14:creationId xmlns:p14="http://schemas.microsoft.com/office/powerpoint/2010/main" val="1889956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pPr rtl="0"/>
            <a:fld id="{D4B9A9E5-4F7F-4A7D-9DE1-899232329269}" type="slidenum">
              <a:rPr lang="tr-TR" smtClean="0"/>
              <a:t>24</a:t>
            </a:fld>
            <a:endParaRPr lang="tr-TR" dirty="0"/>
          </a:p>
        </p:txBody>
      </p:sp>
    </p:spTree>
    <p:extLst>
      <p:ext uri="{BB962C8B-B14F-4D97-AF65-F5344CB8AC3E}">
        <p14:creationId xmlns:p14="http://schemas.microsoft.com/office/powerpoint/2010/main" val="29545998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tr-TR" noProof="0"/>
              <a:t>ANA BAŞLIK STİLİNİ DÜZENLEMEK İÇİN TIKLAYIN</a:t>
            </a:r>
          </a:p>
        </p:txBody>
      </p:sp>
      <p:sp>
        <p:nvSpPr>
          <p:cNvPr id="3" name="Alt Başlık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pic>
        <p:nvPicPr>
          <p:cNvPr id="8" name="Grafik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Gündem">
    <p:bg>
      <p:bgPr>
        <a:solidFill>
          <a:schemeClr val="tx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Başlık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tr-TR" noProof="0"/>
              <a:t>ANA BAŞLIK STİLİNİ DÜZENLEMEK İÇİN TIKLAYIN</a:t>
            </a:r>
          </a:p>
        </p:txBody>
      </p:sp>
      <p:sp>
        <p:nvSpPr>
          <p:cNvPr id="3" name="İçerik Yer Tutucusu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tr-TR" noProof="0" dirty="0"/>
              <a:t>20XX</a:t>
            </a:r>
          </a:p>
        </p:txBody>
      </p:sp>
      <p:sp>
        <p:nvSpPr>
          <p:cNvPr id="5" name="Alt Bilgi Yer Tutucusu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tr-TR" noProof="0" dirty="0"/>
              <a:t>Sunum Destesi</a:t>
            </a:r>
          </a:p>
        </p:txBody>
      </p:sp>
      <p:sp>
        <p:nvSpPr>
          <p:cNvPr id="6" name="Slayt Numarası Yer Tutucusu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Zaman çizelgesi">
    <p:spTree>
      <p:nvGrpSpPr>
        <p:cNvPr id="1" name=""/>
        <p:cNvGrpSpPr/>
        <p:nvPr/>
      </p:nvGrpSpPr>
      <p:grpSpPr>
        <a:xfrm>
          <a:off x="0" y="0"/>
          <a:ext cx="0" cy="0"/>
          <a:chOff x="0" y="0"/>
          <a:chExt cx="0" cy="0"/>
        </a:xfrm>
      </p:grpSpPr>
      <p:sp>
        <p:nvSpPr>
          <p:cNvPr id="12" name="Grafik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tr-TR" noProof="0" dirty="0">
              <a:latin typeface="Arial" panose="020B0604020202020204" pitchFamily="34" charset="0"/>
            </a:endParaRPr>
          </a:p>
        </p:txBody>
      </p:sp>
      <p:sp>
        <p:nvSpPr>
          <p:cNvPr id="2" name="Başlık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BAŞLIĞI DÜZENLEMEK İÇİN TIKLAYIN</a:t>
            </a:r>
          </a:p>
        </p:txBody>
      </p:sp>
      <p:sp>
        <p:nvSpPr>
          <p:cNvPr id="16" name="Metin Yer Tutucusu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17" name="Metin Yer Tutucusu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18" name="Metin Yer Tutucusu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19" name="Metin Yer Tutucusu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tr-TR" noProof="0"/>
              <a:t>ASIL METİN STİLLERİNİ DÜZENLEMEK İÇİN TIKLAYIN</a:t>
            </a:r>
          </a:p>
        </p:txBody>
      </p:sp>
      <p:sp>
        <p:nvSpPr>
          <p:cNvPr id="34" name="Metin Yer Tutucusu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sp>
        <p:nvSpPr>
          <p:cNvPr id="35" name="Metin Yer Tutucusu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sp>
        <p:nvSpPr>
          <p:cNvPr id="36" name="Metin Yer Tutucusu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sp>
        <p:nvSpPr>
          <p:cNvPr id="37" name="Metin Yer Tutucusu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tr-TR" noProof="0"/>
              <a:t>Ana metin stilini düzenlemek için tıklayın</a:t>
            </a:r>
          </a:p>
        </p:txBody>
      </p:sp>
      <p:cxnSp>
        <p:nvCxnSpPr>
          <p:cNvPr id="3" name="Düz Bağlayıcı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Düz Bağlayıcı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Düz Bağlayıcı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Düz Bağlayıcı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Tarih Yer Tutucusu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tr-TR" noProof="0" dirty="0"/>
              <a:t>20XX</a:t>
            </a:r>
          </a:p>
        </p:txBody>
      </p:sp>
      <p:sp>
        <p:nvSpPr>
          <p:cNvPr id="6" name="Alt Bilgi Yer Tutucusu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tr-TR" noProof="0" dirty="0"/>
              <a:t>Sunum Destesi</a:t>
            </a:r>
          </a:p>
        </p:txBody>
      </p:sp>
      <p:sp>
        <p:nvSpPr>
          <p:cNvPr id="7" name="Slayt Numarası Yer Tutucusu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çerik 2 Sütunu">
    <p:bg>
      <p:bgPr>
        <a:solidFill>
          <a:schemeClr val="tx1"/>
        </a:solidFill>
        <a:effectLst/>
      </p:bgPr>
    </p:bg>
    <p:spTree>
      <p:nvGrpSpPr>
        <p:cNvPr id="1" name=""/>
        <p:cNvGrpSpPr/>
        <p:nvPr/>
      </p:nvGrpSpPr>
      <p:grpSpPr>
        <a:xfrm>
          <a:off x="0" y="0"/>
          <a:ext cx="0" cy="0"/>
          <a:chOff x="0" y="0"/>
          <a:chExt cx="0" cy="0"/>
        </a:xfrm>
      </p:grpSpPr>
      <p:sp>
        <p:nvSpPr>
          <p:cNvPr id="14" name="Başlık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Arial" panose="020B0604020202020204" pitchFamily="34" charset="0"/>
                <a:ea typeface="+mj-ea"/>
                <a:cs typeface="+mj-cs"/>
              </a:defRPr>
            </a:lvl1pPr>
          </a:lstStyle>
          <a:p>
            <a:pPr rtl="0"/>
            <a:r>
              <a:rPr lang="tr-TR" noProof="0"/>
              <a:t>ANA BAŞLIK STİLİNİ DÜZENLEMEK İÇİN TIKLAYIN</a:t>
            </a:r>
          </a:p>
        </p:txBody>
      </p:sp>
      <p:sp>
        <p:nvSpPr>
          <p:cNvPr id="15" name="Metin Yer Tutucusu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lvl="0" rtl="0"/>
            <a:r>
              <a:rPr lang="tr-TR" noProof="0"/>
              <a:t>ALT BAŞLIK EKLEMEK İÇİN TIKLAYIN</a:t>
            </a:r>
          </a:p>
        </p:txBody>
      </p:sp>
      <p:sp>
        <p:nvSpPr>
          <p:cNvPr id="17" name="Metin Yer Tutucusu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31" name="Metin Yer Tutucusu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tr-TR" noProof="0"/>
              <a:t>ALT BAŞLIK EKLEMEK İÇİN TIKLAYIN</a:t>
            </a:r>
          </a:p>
        </p:txBody>
      </p:sp>
      <p:sp>
        <p:nvSpPr>
          <p:cNvPr id="32" name="Metin Yer Tutucusu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33" name="Metin Yer Tutucusu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tr-TR" noProof="0"/>
              <a:t>ALT BAŞLIK EKLEMEK İÇİN TIKLAYIN</a:t>
            </a:r>
          </a:p>
        </p:txBody>
      </p:sp>
      <p:sp>
        <p:nvSpPr>
          <p:cNvPr id="34" name="Metin Yer Tutucusu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12" name="Metin Yer Tutucusu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Arial" panose="020B0604020202020204" pitchFamily="34" charset="0"/>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tr-TR" noProof="0"/>
              <a:t>ALT BAŞLIK EKLEMEK İÇİN TIKLAYIN</a:t>
            </a:r>
          </a:p>
        </p:txBody>
      </p:sp>
      <p:sp>
        <p:nvSpPr>
          <p:cNvPr id="13" name="Metin Yer Tutucusu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tr-TR" noProof="0"/>
              <a:t>Metin eklemek için tıklayın</a:t>
            </a:r>
          </a:p>
        </p:txBody>
      </p:sp>
      <p:sp>
        <p:nvSpPr>
          <p:cNvPr id="3" name="Tarih Yer Tutucusu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tr-TR" noProof="0" dirty="0"/>
              <a:t>20XX</a:t>
            </a:r>
          </a:p>
        </p:txBody>
      </p:sp>
      <p:sp>
        <p:nvSpPr>
          <p:cNvPr id="4" name="Alt Bilgi Yer Tutucusu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tr-TR" noProof="0" dirty="0"/>
              <a:t>Sunum Destesi</a:t>
            </a:r>
          </a:p>
        </p:txBody>
      </p:sp>
      <p:sp>
        <p:nvSpPr>
          <p:cNvPr id="5" name="Slayt Numarası Yer Tutucusu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tr-TR" noProof="0" smtClean="0"/>
              <a:t>‹#›</a:t>
            </a:fld>
            <a:endParaRPr lang="tr-TR" noProof="0" dirty="0"/>
          </a:p>
        </p:txBody>
      </p:sp>
      <p:cxnSp>
        <p:nvCxnSpPr>
          <p:cNvPr id="2" name="Düz Bağlayıcı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Düz Bağlayıcı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çerik 3 Sütunu">
    <p:bg>
      <p:bgPr>
        <a:solidFill>
          <a:schemeClr val="bg1"/>
        </a:solidFill>
        <a:effectLst/>
      </p:bgPr>
    </p:bg>
    <p:spTree>
      <p:nvGrpSpPr>
        <p:cNvPr id="1" name=""/>
        <p:cNvGrpSpPr/>
        <p:nvPr/>
      </p:nvGrpSpPr>
      <p:grpSpPr>
        <a:xfrm>
          <a:off x="0" y="0"/>
          <a:ext cx="0" cy="0"/>
          <a:chOff x="0" y="0"/>
          <a:chExt cx="0" cy="0"/>
        </a:xfrm>
      </p:grpSpPr>
      <p:sp>
        <p:nvSpPr>
          <p:cNvPr id="14" name="Başlık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5" name="Metin Yer Tutucusu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7" name="Metin Yer Tutucusu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6" name="Metin Yer Tutucusu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8" name="Metin Yer Tutucusu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9" name="Metin Yer Tutucusu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0" name="Metin Yer Tutucusu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3" name="Metin Yer Tutucusu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4" name="Metin Yer Tutucusu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3" name="Tarih Yer Tutucusu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tr-TR" noProof="0" dirty="0"/>
              <a:t>20XX</a:t>
            </a:r>
          </a:p>
        </p:txBody>
      </p:sp>
      <p:sp>
        <p:nvSpPr>
          <p:cNvPr id="4" name="Alt Bilgi Yer Tutucusu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tr-TR" noProof="0" dirty="0"/>
              <a:t>Sunum Destesi</a:t>
            </a:r>
          </a:p>
        </p:txBody>
      </p:sp>
      <p:sp>
        <p:nvSpPr>
          <p:cNvPr id="5" name="Slayt Numarası Yer Tutucusu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tr-TR" noProof="0" smtClean="0"/>
              <a:pPr/>
              <a:t>‹#›</a:t>
            </a:fld>
            <a:endParaRPr lang="tr-TR" noProof="0" dirty="0"/>
          </a:p>
        </p:txBody>
      </p:sp>
      <p:pic>
        <p:nvPicPr>
          <p:cNvPr id="2" name="Grafik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Giriş">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tr-TR" noProof="0"/>
              <a:t>Asıl metin stillerini düzenlemek için tıklayın</a:t>
            </a:r>
          </a:p>
        </p:txBody>
      </p:sp>
      <p:cxnSp>
        <p:nvCxnSpPr>
          <p:cNvPr id="14" name="Düz Bağlayıcı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Düz Bağlayıcı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arih Yer Tutucusu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10" name="Alt Bilgi Yer Tutucusu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tr-TR" noProof="0" dirty="0"/>
              <a:t>Sunum Destesi</a:t>
            </a:r>
          </a:p>
        </p:txBody>
      </p:sp>
      <p:sp>
        <p:nvSpPr>
          <p:cNvPr id="11" name="Slayt Numarası Yer Tutucusu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ölüm Sonu">
    <p:bg>
      <p:bgPr>
        <a:solidFill>
          <a:schemeClr val="tx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tr-TR" noProof="0"/>
              <a:t>ANA BAŞLIK STİLİNİ DÜZENLEMEK İÇİN TIKLAYIN</a:t>
            </a:r>
          </a:p>
        </p:txBody>
      </p:sp>
      <p:pic>
        <p:nvPicPr>
          <p:cNvPr id="5" name="Grafik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ıntı">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Başlık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cxnSp>
        <p:nvCxnSpPr>
          <p:cNvPr id="9" name="Düz Bağlayıcı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Metin Yer Tutucusu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2" name="Metin Yer Tutucusu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3" name="Metin Yer Tutucusu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4" name="Metin Yer Tutucusu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5" name="Metin Yer Tutucusu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16" name="Metin Yer Tutucusu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17" name="Tarih Yer Tutucusu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tr-TR" noProof="0" dirty="0"/>
              <a:t>20XX</a:t>
            </a:r>
          </a:p>
        </p:txBody>
      </p:sp>
      <p:sp>
        <p:nvSpPr>
          <p:cNvPr id="18" name="Alt Bilgi Yer Tutucusu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tr-TR" noProof="0" dirty="0"/>
              <a:t>Sunum Destesi</a:t>
            </a:r>
          </a:p>
        </p:txBody>
      </p:sp>
      <p:sp>
        <p:nvSpPr>
          <p:cNvPr id="19" name="Slayt Numarası Yer Tutucusu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tr-TR" noProof="0" smtClean="0"/>
              <a:pPr/>
              <a:t>‹#›</a:t>
            </a:fld>
            <a:endParaRPr lang="tr-TR" noProof="0"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Üç İçerik">
    <p:bg>
      <p:bgRef idx="1001">
        <a:schemeClr val="bg1"/>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ANA METNİ DÜZENLEMEK İÇİN TIKLAYIN</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tr-TR" noProof="0"/>
              <a:t>ANA METNİ DÜZENLEMEK İÇİN TIKLAYIN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cxnSp>
        <p:nvCxnSpPr>
          <p:cNvPr id="16" name="Düz Bağlayıcı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Düz Bağlayıcı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Metin Yer Tutucusu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ANA METNİ DÜZENLEMEK İÇİN TIKLAYIN</a:t>
            </a:r>
          </a:p>
        </p:txBody>
      </p:sp>
      <p:sp>
        <p:nvSpPr>
          <p:cNvPr id="22" name="İçerik Yer Tutucusu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İçerik">
    <p:bg>
      <p:bgPr>
        <a:solidFill>
          <a:schemeClr val="tx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Arial" panose="020B0604020202020204" pitchFamily="34" charset="0"/>
                <a:ea typeface="+mj-ea"/>
                <a:cs typeface="+mj-cs"/>
              </a:defRPr>
            </a:lvl1pPr>
          </a:lstStyle>
          <a:p>
            <a:pPr rtl="0"/>
            <a:r>
              <a:rPr lang="tr-TR" noProof="0"/>
              <a:t>ASIL BAŞLIK STİLİNİ DÜZENLEMEK İÇİN TIKLAYIN</a:t>
            </a:r>
          </a:p>
        </p:txBody>
      </p:sp>
      <p:pic>
        <p:nvPicPr>
          <p:cNvPr id="11" name="Grafik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fik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fik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23" name="Metin Yer Tutucusu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24" name="Metin Yer Tutucusu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Düzenlemek için tıklayın</a:t>
            </a:r>
          </a:p>
        </p:txBody>
      </p:sp>
      <p:sp>
        <p:nvSpPr>
          <p:cNvPr id="25" name="İçerik Yer Tutucusu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Asıl metin stillerini düzenlemek için tıklayın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Düzenlemek için tıklayın</a:t>
            </a:r>
          </a:p>
        </p:txBody>
      </p:sp>
      <p:sp>
        <p:nvSpPr>
          <p:cNvPr id="26" name="İçerik Yer Tutucusu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Asıl metin stillerini düzenlemek için tıklayın</a:t>
            </a:r>
          </a:p>
          <a:p>
            <a:pPr lvl="1" rtl="0"/>
            <a:r>
              <a:rPr lang="tr-TR" noProof="0"/>
              <a:t>İkinci düzey</a:t>
            </a:r>
          </a:p>
        </p:txBody>
      </p:sp>
      <p:sp>
        <p:nvSpPr>
          <p:cNvPr id="22" name="İçerik Yer Tutucus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Düzenlemek için tıklayın</a:t>
            </a:r>
          </a:p>
        </p:txBody>
      </p:sp>
      <p:sp>
        <p:nvSpPr>
          <p:cNvPr id="27" name="İçerik Yer Tutucusu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tr-TR" noProof="0"/>
              <a:t>Asıl metin stillerini düzenlemek için tıklayın</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İki İçerik">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ANA METNİ DÜZENLEMEK İÇİN TIKLAYIN</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tr-TR" noProof="0"/>
              <a:t>ANA METNİ DÜZENLEMEK İÇİN TIKLAYIN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pic>
        <p:nvPicPr>
          <p:cNvPr id="11" name="Grafik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çerik">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Başlık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20" name="Metin Yer Tutucusu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5" name="Metin Yer Tutucusu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6" name="Metin Yer Tutucusu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7" name="Metin Yer Tutucusu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8" name="Metin Yer Tutucusu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Arial" panose="020B0604020202020204" pitchFamily="34" charset="0"/>
                <a:ea typeface="+mj-ea"/>
                <a:cs typeface="+mj-cs"/>
              </a:defRPr>
            </a:lvl1pPr>
          </a:lstStyle>
          <a:p>
            <a:pPr lvl="0" rtl="0"/>
            <a:r>
              <a:rPr lang="tr-TR" noProof="0"/>
              <a:t>ALT BAŞLIK EKLEMEK İÇİN TIKLAYIN</a:t>
            </a:r>
          </a:p>
        </p:txBody>
      </p:sp>
      <p:sp>
        <p:nvSpPr>
          <p:cNvPr id="29" name="Metin Yer Tutucusu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tr-TR" noProof="0"/>
              <a:t>Metin eklemek için tıklayın</a:t>
            </a:r>
          </a:p>
        </p:txBody>
      </p:sp>
      <p:sp>
        <p:nvSpPr>
          <p:cNvPr id="21" name="Tarih Yer Tutucusu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22" name="Alt Bilgi Yer Tutucusu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tr-TR" noProof="0" dirty="0"/>
              <a:t>Sunum Destesi</a:t>
            </a:r>
          </a:p>
        </p:txBody>
      </p:sp>
      <p:sp>
        <p:nvSpPr>
          <p:cNvPr id="24" name="Slayt Numarası Yer Tutucusu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fik">
    <p:bg>
      <p:bgPr>
        <a:solidFill>
          <a:schemeClr val="accent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5" name="Metin Yer Tutucusu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tr-TR" noProof="0"/>
              <a:t>Asıl metin stillerini düzenlemek için tıklayın</a:t>
            </a:r>
          </a:p>
        </p:txBody>
      </p:sp>
      <p:sp>
        <p:nvSpPr>
          <p:cNvPr id="7" name="Grafik Yer Tutucusu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tr-TR" noProof="0" dirty="0"/>
              <a:t>Grafik eklemek için simgeye tıklayın</a:t>
            </a:r>
          </a:p>
        </p:txBody>
      </p:sp>
      <p:sp>
        <p:nvSpPr>
          <p:cNvPr id="11" name="Metin Yer Tutucusu 10">
            <a:extLst>
              <a:ext uri="{FF2B5EF4-FFF2-40B4-BE49-F238E27FC236}">
                <a16:creationId xmlns:a16="http://schemas.microsoft.com/office/drawing/2014/main" id="{339C283A-EC40-421C-8A0E-F9A3161C8890}"/>
              </a:ext>
            </a:extLst>
          </p:cNvPr>
          <p:cNvSpPr>
            <a:spLocks noGrp="1"/>
          </p:cNvSpPr>
          <p:nvPr>
            <p:ph type="body" sz="quarter" idx="14" hasCustomPrompt="1"/>
          </p:nvPr>
        </p:nvSpPr>
        <p:spPr>
          <a:xfrm>
            <a:off x="7858125" y="2284624"/>
            <a:ext cx="3147332" cy="306388"/>
          </a:xfrm>
        </p:spPr>
        <p:txBody>
          <a:bodyPr rtlCol="0">
            <a:noAutofit/>
          </a:bodyPr>
          <a:lstStyle>
            <a:lvl1pPr marL="0" indent="0">
              <a:buNone/>
              <a:defRPr sz="1400" cap="all" spc="150" baseline="0">
                <a:solidFill>
                  <a:schemeClr val="tx1"/>
                </a:solidFill>
                <a:latin typeface="Arial" panose="020B0604020202020204" pitchFamily="34" charset="0"/>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tr-TR" noProof="0"/>
              <a:t>Düzenlemek için tıklayın</a:t>
            </a:r>
          </a:p>
        </p:txBody>
      </p:sp>
      <p:sp>
        <p:nvSpPr>
          <p:cNvPr id="13" name="İçerik Yer Tutucusu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tr-TR" noProof="0"/>
              <a:t>İçerik eklemek için tıklayın</a:t>
            </a:r>
          </a:p>
        </p:txBody>
      </p:sp>
      <p:sp>
        <p:nvSpPr>
          <p:cNvPr id="3" name="Tarih Yer Tutucusu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tr-TR" noProof="0" dirty="0"/>
              <a:t>20XX</a:t>
            </a:r>
          </a:p>
        </p:txBody>
      </p:sp>
      <p:sp>
        <p:nvSpPr>
          <p:cNvPr id="4" name="Alt Bilgi Yer Tutucusu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5" name="Slayt Numarası Yer Tutucusu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aman çizelgesi 2">
    <p:spTree>
      <p:nvGrpSpPr>
        <p:cNvPr id="1" name=""/>
        <p:cNvGrpSpPr/>
        <p:nvPr/>
      </p:nvGrpSpPr>
      <p:grpSpPr>
        <a:xfrm>
          <a:off x="0" y="0"/>
          <a:ext cx="0" cy="0"/>
          <a:chOff x="0" y="0"/>
          <a:chExt cx="0" cy="0"/>
        </a:xfrm>
      </p:grpSpPr>
      <p:sp>
        <p:nvSpPr>
          <p:cNvPr id="4" name="Dikdörtgen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dirty="0">
              <a:latin typeface="Arial" panose="020B0604020202020204" pitchFamily="34" charset="0"/>
            </a:endParaRPr>
          </a:p>
        </p:txBody>
      </p:sp>
      <p:sp>
        <p:nvSpPr>
          <p:cNvPr id="2" name="Başlık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6" name="Metin Yer Tutucusu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Arial" panose="020B0604020202020204" pitchFamily="34" charset="0"/>
              </a:defRPr>
            </a:lvl1pPr>
          </a:lstStyle>
          <a:p>
            <a:pPr lvl="0" rtl="0"/>
            <a:r>
              <a:rPr lang="tr-TR" noProof="0"/>
              <a:t>Yıl</a:t>
            </a:r>
          </a:p>
        </p:txBody>
      </p:sp>
      <p:sp>
        <p:nvSpPr>
          <p:cNvPr id="7" name="Metin Yer Tutucusu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8" name="Metin Yer Tutucusu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9" name="Metin Yer Tutucusu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0" name="Metin Yer Tutucusu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2" name="Metin Yer Tutucusu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3" name="Metin Yer Tutucusu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4" name="Metin Yer Tutucusu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6" name="Metin Yer Tutucusu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7" name="Metin Yer Tutucusu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5" name="Metin Yer Tutucusu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8" name="Metin Yer Tutucusu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9" name="Metin Yer Tutucusu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11" name="Metin Yer Tutucusu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Arial" panose="020B0604020202020204" pitchFamily="34" charset="0"/>
              </a:defRPr>
            </a:lvl1pPr>
          </a:lstStyle>
          <a:p>
            <a:pPr lvl="0" rtl="0"/>
            <a:r>
              <a:rPr lang="tr-TR" noProof="0"/>
              <a:t>Yıl</a:t>
            </a:r>
          </a:p>
        </p:txBody>
      </p:sp>
      <p:sp>
        <p:nvSpPr>
          <p:cNvPr id="20" name="Metin Yer Tutucusu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1" name="Metin Yer Tutucusu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2" name="Metin Yer Tutucusu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3" name="Metin Yer Tutucusu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4" name="Metin Yer Tutucusu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5" name="Metin Yer Tutucusu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6" name="Metin Yer Tutucusu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8" name="Metin Yer Tutucusu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9" name="Metin Yer Tutucusu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27" name="Metin Yer Tutucusu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30" name="Metin Yer Tutucusu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31" name="Metin Yer Tutucusu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tr-TR" noProof="0"/>
              <a:t>MM</a:t>
            </a:r>
          </a:p>
        </p:txBody>
      </p:sp>
      <p:sp>
        <p:nvSpPr>
          <p:cNvPr id="32" name="Dikdörtgen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dirty="0">
              <a:solidFill>
                <a:schemeClr val="tx1">
                  <a:lumMod val="75000"/>
                  <a:lumOff val="25000"/>
                </a:schemeClr>
              </a:solidFill>
              <a:latin typeface="Arial" panose="020B0604020202020204" pitchFamily="34" charset="0"/>
            </a:endParaRPr>
          </a:p>
        </p:txBody>
      </p:sp>
      <p:sp>
        <p:nvSpPr>
          <p:cNvPr id="36" name="Tarih Yer Tutucusu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37" name="Alt Bilgi Yer Tutucusu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tr-TR" noProof="0" dirty="0"/>
              <a:t>Sunum Destesi</a:t>
            </a:r>
          </a:p>
        </p:txBody>
      </p:sp>
      <p:sp>
        <p:nvSpPr>
          <p:cNvPr id="38" name="Slayt Numarası Yer Tutucusu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7" name="SmartArt Yer Tutucusu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tr-TR" noProof="0" dirty="0"/>
              <a:t>SmartArt grafiği eklemek için simgeye tıklayın</a:t>
            </a:r>
          </a:p>
        </p:txBody>
      </p:sp>
      <p:sp>
        <p:nvSpPr>
          <p:cNvPr id="3" name="Tarih Yer Tutucusu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tr-TR" noProof="0" dirty="0"/>
              <a:t>20XX</a:t>
            </a:r>
          </a:p>
        </p:txBody>
      </p:sp>
      <p:sp>
        <p:nvSpPr>
          <p:cNvPr id="4" name="Alt Bilgi Yer Tutucusu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tr-TR" noProof="0" dirty="0"/>
              <a:t>Sunum Destesi</a:t>
            </a:r>
          </a:p>
        </p:txBody>
      </p:sp>
      <p:cxnSp>
        <p:nvCxnSpPr>
          <p:cNvPr id="10" name="Düz Bağlayıcı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ayt Numarası Yer Tutucusu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 Kişilik Ekip Slaydı">
    <p:bg>
      <p:bgRef idx="1001">
        <a:schemeClr val="bg1"/>
      </p:bgRef>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1" name="Resim Yer Tutucusu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tr-TR" noProof="0" dirty="0"/>
              <a:t>Resim eklemek için simgeye tıklayın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6" name="Metin Yer Tutucusu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7" name="Resim Yer Tutucusu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tr-TR" noProof="0" dirty="0"/>
              <a:t>Resim eklemek için simgeye tıklayın</a:t>
            </a:r>
          </a:p>
        </p:txBody>
      </p:sp>
      <p:sp>
        <p:nvSpPr>
          <p:cNvPr id="23" name="Metin Yer Tutucusu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7" name="Metin Yer Tutucusu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8" name="Resim Yer Tutucusu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tr-TR" noProof="0" dirty="0"/>
              <a:t>Resim eklemek için simgeye tıklayın</a:t>
            </a:r>
          </a:p>
        </p:txBody>
      </p:sp>
      <p:sp>
        <p:nvSpPr>
          <p:cNvPr id="24" name="Metin Yer Tutucusu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8" name="Metin Yer Tutucusu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9" name="Resim Yer Tutucusu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tr-TR" noProof="0" dirty="0"/>
              <a:t>Resim eklemek için simgeye tıklayın</a:t>
            </a:r>
          </a:p>
        </p:txBody>
      </p:sp>
      <p:sp>
        <p:nvSpPr>
          <p:cNvPr id="25" name="Metin Yer Tutucusu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9" name="Metin Yer Tutucusu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cxnSp>
        <p:nvCxnSpPr>
          <p:cNvPr id="10" name="Düz Bağlayıcı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Düz Bağlayıcı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8 Kişilik Ekip Slaydı">
    <p:bg>
      <p:bgPr>
        <a:solidFill>
          <a:schemeClr val="bg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1" name="Resim Yer Tutucusu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6" name="Metin Yer Tutucusu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7" name="Resim Yer Tutucusu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23" name="Metin Yer Tutucusu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7" name="Metin Yer Tutucusu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8" name="Resim Yer Tutucusu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tr-TR" noProof="0" dirty="0"/>
              <a:t>Resim eklemek için simgeye tıklayın</a:t>
            </a:r>
          </a:p>
        </p:txBody>
      </p:sp>
      <p:sp>
        <p:nvSpPr>
          <p:cNvPr id="24" name="Metin Yer Tutucusu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8" name="Metin Yer Tutucusu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9" name="Resim Yer Tutucusu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25" name="Metin Yer Tutucusu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9" name="Metin Yer Tutucusu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5" name="Resim Yer Tutucusu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54" name="Metin Yer Tutucusu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2" name="Metin Yer Tutucusu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6" name="Resim Yer Tutucusu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59" name="Metin Yer Tutucusu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3" name="Metin Yer Tutucusu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7" name="Resim Yer Tutucusu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tr-TR" noProof="0" dirty="0"/>
              <a:t>Resim eklemek için simgeye tıklayın</a:t>
            </a:r>
          </a:p>
        </p:txBody>
      </p:sp>
      <p:sp>
        <p:nvSpPr>
          <p:cNvPr id="60" name="Metin Yer Tutucusu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4" name="Metin Yer Tutucusu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58" name="Resim Yer Tutucusu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tr-TR" noProof="0" dirty="0"/>
              <a:t>Resim eklemek için simgeye tıklayın</a:t>
            </a:r>
          </a:p>
        </p:txBody>
      </p:sp>
      <p:sp>
        <p:nvSpPr>
          <p:cNvPr id="61" name="Metin Yer Tutucusu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65" name="Metin Yer Tutucusu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tr-TR" noProof="0" smtClean="0"/>
              <a:t>‹#›</a:t>
            </a:fld>
            <a:endParaRPr lang="tr-TR" noProof="0" dirty="0"/>
          </a:p>
        </p:txBody>
      </p:sp>
      <p:pic>
        <p:nvPicPr>
          <p:cNvPr id="13" name="Grafik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fik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nansman">
    <p:bg>
      <p:bgPr>
        <a:solidFill>
          <a:schemeClr val="bg1"/>
        </a:solidFill>
        <a:effectLst/>
      </p:bgPr>
    </p:bg>
    <p:spTree>
      <p:nvGrpSpPr>
        <p:cNvPr id="1" name=""/>
        <p:cNvGrpSpPr/>
        <p:nvPr/>
      </p:nvGrpSpPr>
      <p:grpSpPr>
        <a:xfrm>
          <a:off x="0" y="0"/>
          <a:ext cx="0" cy="0"/>
          <a:chOff x="0" y="0"/>
          <a:chExt cx="0" cy="0"/>
        </a:xfrm>
      </p:grpSpPr>
      <p:cxnSp>
        <p:nvCxnSpPr>
          <p:cNvPr id="16" name="Düz Bağlayıcı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Düz Bağlayıcı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Başlık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Arial" panose="020B0604020202020204" pitchFamily="34" charset="0"/>
                <a:ea typeface="+mj-ea"/>
                <a:cs typeface="+mj-cs"/>
              </a:defRPr>
            </a:lvl1pPr>
          </a:lstStyle>
          <a:p>
            <a:pPr rtl="0"/>
            <a:r>
              <a:rPr lang="tr-TR" noProof="0"/>
              <a:t>ANA BAŞLIK STİLİNİ DÜZENLEMEK İÇİN TIKLAYIN</a:t>
            </a:r>
          </a:p>
        </p:txBody>
      </p:sp>
      <p:sp>
        <p:nvSpPr>
          <p:cNvPr id="11" name="İçerik Yer Tutucusu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3" name="Metin Yer Tutucusu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17" name="Metin Yer Tutucusu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4" name="İçerik Yer Tutucusu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24" name="İçerik Yer Tutucusu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5" name="Metin Yer Tutucusu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18" name="Metin Yer Tutucusu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tr-TR" noProof="0"/>
              <a:t>DÜZENLEMEK İÇİN TIKLAYIN</a:t>
            </a:r>
          </a:p>
        </p:txBody>
      </p:sp>
      <p:sp>
        <p:nvSpPr>
          <p:cNvPr id="6" name="İçerik Yer Tutucusu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25" name="İçerik Yer Tutucusu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21" name="Metin Yer Tutucusu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19" name="Metin Yer Tutucusu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22" name="İçerik Yer Tutucusu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26" name="İçerik Yer Tutucusu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tr-TR" noProof="0"/>
              <a:t>İçerik eklemek için tıklayın</a:t>
            </a:r>
          </a:p>
        </p:txBody>
      </p:sp>
      <p:sp>
        <p:nvSpPr>
          <p:cNvPr id="14" name="Metin Yer Tutucusu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t>
            </a:r>
          </a:p>
        </p:txBody>
      </p:sp>
      <p:sp>
        <p:nvSpPr>
          <p:cNvPr id="23" name="Metin Yer Tutucusu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Arial" panose="020B0604020202020204" pitchFamily="34" charset="0"/>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DÜZENLEMEK İÇİN TIKLAYIN</a:t>
            </a:r>
          </a:p>
        </p:txBody>
      </p:sp>
      <p:sp>
        <p:nvSpPr>
          <p:cNvPr id="15" name="İçerik Yer Tutucusu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tr-TR" noProof="0"/>
              <a:t>Asıl metin stillerini düzenlemek için tıklayın</a:t>
            </a:r>
          </a:p>
        </p:txBody>
      </p:sp>
      <p:sp>
        <p:nvSpPr>
          <p:cNvPr id="7" name="Tarih Yer Tutucusu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tr-TR" noProof="0" dirty="0"/>
              <a:t>20XX</a:t>
            </a:r>
          </a:p>
        </p:txBody>
      </p:sp>
      <p:sp>
        <p:nvSpPr>
          <p:cNvPr id="8" name="Alt Bilgi Yer Tutucusu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tr-TR" noProof="0" dirty="0"/>
              <a:t>Sunum Destesi</a:t>
            </a:r>
          </a:p>
        </p:txBody>
      </p:sp>
      <p:sp>
        <p:nvSpPr>
          <p:cNvPr id="9" name="Slayt Numarası Yer Tutucusu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Özet">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Arial" panose="020B0604020202020204" pitchFamily="34" charset="0"/>
                <a:ea typeface="+mj-ea"/>
                <a:cs typeface="+mj-cs"/>
              </a:defRPr>
            </a:lvl1pPr>
          </a:lstStyle>
          <a:p>
            <a:pPr rtl="0"/>
            <a:r>
              <a:rPr lang="tr-TR" noProof="0"/>
              <a:t>ASIL BAŞLIK STİLİNİ DÜZENLEMEK İÇİN TIKLAYIN</a:t>
            </a:r>
          </a:p>
        </p:txBody>
      </p:sp>
      <p:sp>
        <p:nvSpPr>
          <p:cNvPr id="3" name="Metin Yer Tutucusu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tr-TR" noProof="0"/>
              <a:t>Asıl metin stillerini düzenlemek için tıklayın</a:t>
            </a:r>
          </a:p>
        </p:txBody>
      </p:sp>
      <p:cxnSp>
        <p:nvCxnSpPr>
          <p:cNvPr id="23" name="Düz Bağlayıcı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arih Yer Tutucusu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tr-TR" noProof="0" dirty="0"/>
              <a:t>20XX</a:t>
            </a:r>
          </a:p>
        </p:txBody>
      </p:sp>
      <p:sp>
        <p:nvSpPr>
          <p:cNvPr id="22" name="Alt Bilgi Yer Tutucusu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tr-TR" noProof="0" dirty="0"/>
              <a:t>Sunum Destesi</a:t>
            </a:r>
          </a:p>
        </p:txBody>
      </p:sp>
      <p:sp>
        <p:nvSpPr>
          <p:cNvPr id="24" name="Slayt Numarası Yer Tutucusu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Kapanış">
    <p:bg>
      <p:bgPr>
        <a:solidFill>
          <a:schemeClr val="tx1"/>
        </a:soli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tr-TR" noProof="0"/>
              <a:t>ANA BAŞLIK STİLİNİ DÜZENLEMEK İÇİN TIKLAYIN</a:t>
            </a:r>
          </a:p>
        </p:txBody>
      </p:sp>
      <p:sp>
        <p:nvSpPr>
          <p:cNvPr id="3" name="Alt Başlık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pic>
        <p:nvPicPr>
          <p:cNvPr id="6" name="Grafik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Tarih Yer Tutucusu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tr-TR" noProof="0" dirty="0"/>
              <a:t>20XX</a:t>
            </a:r>
          </a:p>
        </p:txBody>
      </p:sp>
      <p:sp>
        <p:nvSpPr>
          <p:cNvPr id="10" name="Alt Bilgi Yer Tutucusu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tr-TR" noProof="0" dirty="0"/>
              <a:t>Sunum Destesi</a:t>
            </a:r>
          </a:p>
        </p:txBody>
      </p:sp>
      <p:sp>
        <p:nvSpPr>
          <p:cNvPr id="11" name="Slayt Numarası Yer Tutucusu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tr-TR" noProof="0" smtClean="0"/>
              <a:t>‹#›</a:t>
            </a:fld>
            <a:endParaRPr lang="tr-TR" noProof="0"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tr-TR" noProof="0"/>
              <a:t>Asıl başlık stilini düzenlemek için tıklayın</a:t>
            </a:r>
          </a:p>
        </p:txBody>
      </p:sp>
      <p:sp>
        <p:nvSpPr>
          <p:cNvPr id="3" name="Metin Yer Tutucusu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r>
              <a:rPr lang="tr-TR" noProof="0" dirty="0"/>
              <a:t>20XX</a:t>
            </a:r>
          </a:p>
        </p:txBody>
      </p:sp>
      <p:sp>
        <p:nvSpPr>
          <p:cNvPr id="5" name="Alt Bilgi Yer Tutucusu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r>
              <a:rPr lang="tr-TR" noProof="0" dirty="0"/>
              <a:t>Sunum Destesi</a:t>
            </a:r>
          </a:p>
        </p:txBody>
      </p:sp>
      <p:sp>
        <p:nvSpPr>
          <p:cNvPr id="6" name="Slayt Numarası Yer Tutucusu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latin typeface="Arial" panose="020B0604020202020204" pitchFamily="34" charset="0"/>
              </a:defRPr>
            </a:lvl1pPr>
          </a:lstStyle>
          <a:p>
            <a:fld id="{B5CEABB6-07DC-46E8-9B57-56EC44A396E5}" type="slidenum">
              <a:rPr lang="tr-TR" noProof="0" smtClean="0"/>
              <a:pPr/>
              <a:t>‹#›</a:t>
            </a:fld>
            <a:endParaRPr lang="tr-TR" noProof="0"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49.png"/><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52.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6815C6-3AD0-46E6-A74A-1967BD91AF50}"/>
              </a:ext>
            </a:extLst>
          </p:cNvPr>
          <p:cNvSpPr>
            <a:spLocks noGrp="1"/>
          </p:cNvSpPr>
          <p:nvPr>
            <p:ph type="ctrTitle"/>
          </p:nvPr>
        </p:nvSpPr>
        <p:spPr>
          <a:xfrm>
            <a:off x="6096000" y="4434840"/>
            <a:ext cx="5261811" cy="1122202"/>
          </a:xfrm>
        </p:spPr>
        <p:txBody>
          <a:bodyPr rtlCol="0"/>
          <a:lstStyle/>
          <a:p>
            <a:pPr rtl="0"/>
            <a:r>
              <a:rPr lang="tr-TR" sz="1700" dirty="0"/>
              <a:t>Makine öğrenmesi - NLP ile Metinden</a:t>
            </a:r>
            <a:r>
              <a:rPr lang="tr-TR" dirty="0"/>
              <a:t> Anksiyete ANALİZİ</a:t>
            </a:r>
          </a:p>
        </p:txBody>
      </p:sp>
      <p:sp>
        <p:nvSpPr>
          <p:cNvPr id="3" name="Alt Başlık 2">
            <a:extLst>
              <a:ext uri="{FF2B5EF4-FFF2-40B4-BE49-F238E27FC236}">
                <a16:creationId xmlns:a16="http://schemas.microsoft.com/office/drawing/2014/main" id="{1901B20D-4C28-4DA3-ABBD-718C22A5E58B}"/>
              </a:ext>
            </a:extLst>
          </p:cNvPr>
          <p:cNvSpPr>
            <a:spLocks noGrp="1"/>
          </p:cNvSpPr>
          <p:nvPr>
            <p:ph type="subTitle" idx="1"/>
          </p:nvPr>
        </p:nvSpPr>
        <p:spPr>
          <a:xfrm>
            <a:off x="6096000" y="5586890"/>
            <a:ext cx="5261811" cy="396660"/>
          </a:xfrm>
        </p:spPr>
        <p:txBody>
          <a:bodyPr rtlCol="0"/>
          <a:lstStyle/>
          <a:p>
            <a:pPr rtl="0"/>
            <a:r>
              <a:rPr lang="tr-TR" dirty="0"/>
              <a:t>Esat DÜNDAR - 220610035</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8" y="843466"/>
            <a:ext cx="3602294" cy="936174"/>
          </a:xfrm>
        </p:spPr>
        <p:txBody>
          <a:bodyPr rtlCol="0"/>
          <a:lstStyle/>
          <a:p>
            <a:pPr rtl="0"/>
            <a:r>
              <a:rPr lang="tr-TR" b="1" dirty="0"/>
              <a:t>Projenin </a:t>
            </a:r>
            <a:br>
              <a:rPr lang="tr-TR" b="1" dirty="0"/>
            </a:br>
            <a:r>
              <a:rPr lang="tr-TR" b="1" dirty="0"/>
              <a:t>Amacı </a:t>
            </a:r>
            <a:r>
              <a:rPr lang="tr-TR" sz="2400" b="1" dirty="0"/>
              <a:t>ve</a:t>
            </a:r>
            <a:r>
              <a:rPr lang="tr-TR" b="1" dirty="0"/>
              <a:t> Önemi</a:t>
            </a:r>
          </a:p>
        </p:txBody>
      </p:sp>
      <p:sp>
        <p:nvSpPr>
          <p:cNvPr id="3" name="Alt Başlık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7" y="2025445"/>
            <a:ext cx="3720283" cy="3989089"/>
          </a:xfrm>
        </p:spPr>
        <p:txBody>
          <a:bodyPr rtlCol="0">
            <a:normAutofit fontScale="77500" lnSpcReduction="20000"/>
          </a:bodyPr>
          <a:lstStyle/>
          <a:p>
            <a:pPr rtl="0"/>
            <a:r>
              <a:rPr lang="tr-TR" sz="2000" b="1" dirty="0"/>
              <a:t>ANKSİYETE, </a:t>
            </a:r>
            <a:r>
              <a:rPr lang="tr-TR" sz="2000" dirty="0"/>
              <a:t>bireylerin ruh sağlığını ve toplumsal işlevselliğini olumsuz etkileyen, günümüzde giderek artan yaygın bir zihinsel sağlık sorunudur. Erken tanı ve müdahale, hem bireylerin yaşam kalitesi hem de toplumun genel refahı açısından büyük önem taşımaktadır.</a:t>
            </a:r>
          </a:p>
          <a:p>
            <a:pPr rtl="0"/>
            <a:r>
              <a:rPr lang="tr-TR" sz="2000" dirty="0"/>
              <a:t>Bu proje, yapay zeka ve doğal dil işleme tekniklerini kullanarak metin tabanlı veriler üzerinden anksiyete belirtilerini analiz etmeyi ve bu sayede ruhsal sorunların erken aşamada tespitine katkı sunmayı amaçlamaktadır.</a:t>
            </a:r>
            <a:endParaRPr lang="tr-TR"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D779DE4-CAEA-4617-897E-FEC9A2AC2D6A}"/>
              </a:ext>
            </a:extLst>
          </p:cNvPr>
          <p:cNvSpPr>
            <a:spLocks noGrp="1"/>
          </p:cNvSpPr>
          <p:nvPr>
            <p:ph type="body" sz="quarter" idx="13"/>
          </p:nvPr>
        </p:nvSpPr>
        <p:spPr>
          <a:xfrm>
            <a:off x="88491" y="1545931"/>
            <a:ext cx="2418735" cy="514350"/>
          </a:xfrm>
        </p:spPr>
        <p:txBody>
          <a:bodyPr vert="horz" lIns="91440" tIns="45720" rIns="91440" bIns="45720" rtlCol="0" anchor="ctr">
            <a:normAutofit/>
          </a:bodyPr>
          <a:lstStyle/>
          <a:p>
            <a:pPr rtl="0"/>
            <a:r>
              <a:rPr lang="tr-TR" b="1" dirty="0"/>
              <a:t>Doğal Dil İşleme</a:t>
            </a:r>
          </a:p>
        </p:txBody>
      </p:sp>
      <p:sp>
        <p:nvSpPr>
          <p:cNvPr id="4" name="Metin Yer Tutucusu 3">
            <a:extLst>
              <a:ext uri="{FF2B5EF4-FFF2-40B4-BE49-F238E27FC236}">
                <a16:creationId xmlns:a16="http://schemas.microsoft.com/office/drawing/2014/main" id="{F5FF1291-56EB-4A7B-A198-1D91F9ECC5D3}"/>
              </a:ext>
            </a:extLst>
          </p:cNvPr>
          <p:cNvSpPr>
            <a:spLocks noGrp="1"/>
          </p:cNvSpPr>
          <p:nvPr>
            <p:ph type="body" sz="quarter" idx="14"/>
          </p:nvPr>
        </p:nvSpPr>
        <p:spPr>
          <a:xfrm>
            <a:off x="478785" y="2622257"/>
            <a:ext cx="2602374" cy="514350"/>
          </a:xfrm>
        </p:spPr>
        <p:txBody>
          <a:bodyPr rtlCol="0"/>
          <a:lstStyle/>
          <a:p>
            <a:pPr rtl="0"/>
            <a:r>
              <a:rPr lang="tr-TR" b="1" dirty="0"/>
              <a:t>Makine öğrenmesi</a:t>
            </a:r>
          </a:p>
        </p:txBody>
      </p:sp>
      <p:sp>
        <p:nvSpPr>
          <p:cNvPr id="5" name="Metin Yer Tutucusu 4">
            <a:extLst>
              <a:ext uri="{FF2B5EF4-FFF2-40B4-BE49-F238E27FC236}">
                <a16:creationId xmlns:a16="http://schemas.microsoft.com/office/drawing/2014/main" id="{6184E21C-7534-4FB5-9709-F7D1A11034F3}"/>
              </a:ext>
            </a:extLst>
          </p:cNvPr>
          <p:cNvSpPr>
            <a:spLocks noGrp="1"/>
          </p:cNvSpPr>
          <p:nvPr>
            <p:ph type="body" sz="quarter" idx="15"/>
          </p:nvPr>
        </p:nvSpPr>
        <p:spPr>
          <a:xfrm>
            <a:off x="1415845" y="3698583"/>
            <a:ext cx="2212257" cy="514350"/>
          </a:xfrm>
        </p:spPr>
        <p:txBody>
          <a:bodyPr rtlCol="0"/>
          <a:lstStyle/>
          <a:p>
            <a:pPr rtl="0"/>
            <a:r>
              <a:rPr lang="tr-TR" b="1" dirty="0"/>
              <a:t>Yapay Zeka (AI)</a:t>
            </a:r>
          </a:p>
        </p:txBody>
      </p:sp>
      <p:sp>
        <p:nvSpPr>
          <p:cNvPr id="6" name="Metin Yer Tutucusu 5">
            <a:extLst>
              <a:ext uri="{FF2B5EF4-FFF2-40B4-BE49-F238E27FC236}">
                <a16:creationId xmlns:a16="http://schemas.microsoft.com/office/drawing/2014/main" id="{5C594564-4FC6-401A-8586-44735EE819EC}"/>
              </a:ext>
            </a:extLst>
          </p:cNvPr>
          <p:cNvSpPr>
            <a:spLocks noGrp="1"/>
          </p:cNvSpPr>
          <p:nvPr>
            <p:ph type="body" sz="quarter" idx="16"/>
          </p:nvPr>
        </p:nvSpPr>
        <p:spPr>
          <a:xfrm>
            <a:off x="2694039" y="4774909"/>
            <a:ext cx="1550180" cy="514350"/>
          </a:xfrm>
        </p:spPr>
        <p:txBody>
          <a:bodyPr rtlCol="0"/>
          <a:lstStyle/>
          <a:p>
            <a:pPr rtl="0"/>
            <a:r>
              <a:rPr lang="tr-TR" b="1" dirty="0"/>
              <a:t>ML Modeli</a:t>
            </a:r>
          </a:p>
        </p:txBody>
      </p:sp>
      <p:sp>
        <p:nvSpPr>
          <p:cNvPr id="7" name="Metin Yer Tutucusu 6">
            <a:extLst>
              <a:ext uri="{FF2B5EF4-FFF2-40B4-BE49-F238E27FC236}">
                <a16:creationId xmlns:a16="http://schemas.microsoft.com/office/drawing/2014/main" id="{D7EB25CA-DA83-483D-AF83-0001BDF2DE2B}"/>
              </a:ext>
            </a:extLst>
          </p:cNvPr>
          <p:cNvSpPr>
            <a:spLocks noGrp="1"/>
          </p:cNvSpPr>
          <p:nvPr>
            <p:ph type="body" sz="quarter" idx="17"/>
          </p:nvPr>
        </p:nvSpPr>
        <p:spPr>
          <a:xfrm>
            <a:off x="4332709" y="1297685"/>
            <a:ext cx="5653547" cy="1010842"/>
          </a:xfrm>
        </p:spPr>
        <p:txBody>
          <a:bodyPr rtlCol="0">
            <a:normAutofit/>
          </a:bodyPr>
          <a:lstStyle/>
          <a:p>
            <a:pPr rtl="0"/>
            <a:r>
              <a:rPr lang="tr-TR" sz="1500" dirty="0"/>
              <a:t>Bilgisayarların insan dilini anlamasını ve işlemesini sağlayan yapay zeka alanıdır. Bu proje kapsamında bireylerin metinleri üzerinde dilsel analizler yapılarak ruhsal durumlarına dair çıkarımlar yapılmıştır.</a:t>
            </a:r>
          </a:p>
        </p:txBody>
      </p:sp>
      <p:sp>
        <p:nvSpPr>
          <p:cNvPr id="8" name="Metin Yer Tutucusu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9" y="2374011"/>
            <a:ext cx="5653548" cy="1010842"/>
          </a:xfrm>
        </p:spPr>
        <p:txBody>
          <a:bodyPr rtlCol="0">
            <a:normAutofit/>
          </a:bodyPr>
          <a:lstStyle/>
          <a:p>
            <a:pPr rtl="0"/>
            <a:r>
              <a:rPr lang="tr-TR" sz="1500" dirty="0"/>
              <a:t>Verilerden örüntüler öğrenerek tahmin veya sınıflandırma yapabilen algoritmalar bütünüdür. Bu projede, metinlerdeki anksiyete belirtilerini tespit edebilen modellerin eğitilmesinde kullanılmıştır.</a:t>
            </a:r>
          </a:p>
        </p:txBody>
      </p:sp>
      <p:sp>
        <p:nvSpPr>
          <p:cNvPr id="9" name="Metin Yer Tutucusu 8">
            <a:extLst>
              <a:ext uri="{FF2B5EF4-FFF2-40B4-BE49-F238E27FC236}">
                <a16:creationId xmlns:a16="http://schemas.microsoft.com/office/drawing/2014/main" id="{1C7D5285-85DF-4331-A6FA-1AE847CA47AE}"/>
              </a:ext>
            </a:extLst>
          </p:cNvPr>
          <p:cNvSpPr>
            <a:spLocks noGrp="1"/>
          </p:cNvSpPr>
          <p:nvPr>
            <p:ph type="body" sz="quarter" idx="19"/>
          </p:nvPr>
        </p:nvSpPr>
        <p:spPr>
          <a:xfrm>
            <a:off x="5537608" y="3450337"/>
            <a:ext cx="5653548" cy="1010842"/>
          </a:xfrm>
        </p:spPr>
        <p:txBody>
          <a:bodyPr rtlCol="0">
            <a:normAutofit/>
          </a:bodyPr>
          <a:lstStyle/>
          <a:p>
            <a:pPr rtl="0"/>
            <a:r>
              <a:rPr lang="tr-TR" sz="1500" dirty="0"/>
              <a:t>İnsan benzeri düşünme, öğrenme ve karar verme yeteneklerini bilgisayar sistemlerine kazandırmayı amaçlayan geniş bir alandır. ML ve NLP bu alanın alt dallarıdır ve projede bir bütün olarak kullanılmıştır.</a:t>
            </a:r>
          </a:p>
        </p:txBody>
      </p:sp>
      <p:sp>
        <p:nvSpPr>
          <p:cNvPr id="10" name="Metin Yer Tutucusu 9">
            <a:extLst>
              <a:ext uri="{FF2B5EF4-FFF2-40B4-BE49-F238E27FC236}">
                <a16:creationId xmlns:a16="http://schemas.microsoft.com/office/drawing/2014/main" id="{02D305EF-9A88-496B-BFC1-D589A01EE381}"/>
              </a:ext>
            </a:extLst>
          </p:cNvPr>
          <p:cNvSpPr>
            <a:spLocks noGrp="1"/>
          </p:cNvSpPr>
          <p:nvPr>
            <p:ph type="body" sz="quarter" idx="20"/>
          </p:nvPr>
        </p:nvSpPr>
        <p:spPr>
          <a:xfrm>
            <a:off x="6095999" y="4549473"/>
            <a:ext cx="5653549" cy="1010842"/>
          </a:xfrm>
        </p:spPr>
        <p:txBody>
          <a:bodyPr rtlCol="0">
            <a:normAutofit/>
          </a:bodyPr>
          <a:lstStyle/>
          <a:p>
            <a:pPr rtl="0"/>
            <a:r>
              <a:rPr lang="tr-TR" sz="1500" dirty="0"/>
              <a:t>Eğitim verileri ile öğrenim sürecinden geçen ve yeni veriler üzerinde tahmin yapabilen yapıdır. Bu projede bireylerin yazılı ifadelerindeki anksiyete belirtilerini sınıflandırmak için bu modellerden yararlanılmıştır.</a:t>
            </a:r>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031FE9-9059-4FE8-B4AC-9771F23A1B89}"/>
              </a:ext>
            </a:extLst>
          </p:cNvPr>
          <p:cNvSpPr>
            <a:spLocks noGrp="1"/>
          </p:cNvSpPr>
          <p:nvPr>
            <p:ph type="title"/>
          </p:nvPr>
        </p:nvSpPr>
        <p:spPr>
          <a:xfrm>
            <a:off x="1885155" y="658761"/>
            <a:ext cx="8421688" cy="670996"/>
          </a:xfrm>
        </p:spPr>
        <p:txBody>
          <a:bodyPr rtlCol="0"/>
          <a:lstStyle/>
          <a:p>
            <a:pPr rtl="0"/>
            <a:r>
              <a:rPr lang="tr-TR" b="1" dirty="0"/>
              <a:t>Veri Seti</a:t>
            </a:r>
          </a:p>
        </p:txBody>
      </p:sp>
      <p:sp>
        <p:nvSpPr>
          <p:cNvPr id="4" name="Metin Yer Tutucusu 3">
            <a:extLst>
              <a:ext uri="{FF2B5EF4-FFF2-40B4-BE49-F238E27FC236}">
                <a16:creationId xmlns:a16="http://schemas.microsoft.com/office/drawing/2014/main" id="{AC1C80FB-53F9-42EE-B1E6-D0F998EC5DFA}"/>
              </a:ext>
            </a:extLst>
          </p:cNvPr>
          <p:cNvSpPr>
            <a:spLocks noGrp="1"/>
          </p:cNvSpPr>
          <p:nvPr>
            <p:ph type="body" sz="quarter" idx="15"/>
          </p:nvPr>
        </p:nvSpPr>
        <p:spPr>
          <a:xfrm>
            <a:off x="1327352" y="1329757"/>
            <a:ext cx="9537287" cy="2166861"/>
          </a:xfrm>
        </p:spPr>
        <p:txBody>
          <a:bodyPr rtlCol="0">
            <a:normAutofit/>
          </a:bodyPr>
          <a:lstStyle/>
          <a:p>
            <a:pPr rtl="0"/>
            <a:r>
              <a:rPr lang="tr-TR" dirty="0"/>
              <a:t>Bu projede kullanılan veri seti, </a:t>
            </a:r>
            <a:r>
              <a:rPr lang="tr-TR" b="1" dirty="0"/>
              <a:t>27.978</a:t>
            </a:r>
            <a:r>
              <a:rPr lang="tr-TR" dirty="0"/>
              <a:t> satırdan ve </a:t>
            </a:r>
            <a:r>
              <a:rPr lang="tr-TR" b="1" dirty="0"/>
              <a:t>29.179</a:t>
            </a:r>
            <a:r>
              <a:rPr lang="tr-TR" dirty="0"/>
              <a:t> benzersiz kelimeden oluşan metin tabanlı bir koleksiyondur.</a:t>
            </a:r>
            <a:br>
              <a:rPr lang="tr-TR" dirty="0"/>
            </a:br>
            <a:br>
              <a:rPr lang="tr-TR" dirty="0"/>
            </a:br>
            <a:r>
              <a:rPr lang="tr-TR" dirty="0"/>
              <a:t>Veri seti, </a:t>
            </a:r>
            <a:r>
              <a:rPr lang="tr-TR" b="1" dirty="0"/>
              <a:t>"text"</a:t>
            </a:r>
            <a:r>
              <a:rPr lang="tr-TR" dirty="0"/>
              <a:t> ve </a:t>
            </a:r>
            <a:r>
              <a:rPr lang="tr-TR" b="1" dirty="0"/>
              <a:t>"label"</a:t>
            </a:r>
            <a:r>
              <a:rPr lang="tr-TR" dirty="0"/>
              <a:t> olmak üzere iki ana sütundan oluşmaktadır. </a:t>
            </a:r>
            <a:br>
              <a:rPr lang="tr-TR" dirty="0"/>
            </a:br>
            <a:r>
              <a:rPr lang="tr-TR" b="1" dirty="0"/>
              <a:t>Text</a:t>
            </a:r>
            <a:r>
              <a:rPr lang="tr-TR" dirty="0"/>
              <a:t> sütununda, bireylerin ruh haliyle ilgili metinler yer almakta; </a:t>
            </a:r>
            <a:r>
              <a:rPr lang="tr-TR" b="1" dirty="0"/>
              <a:t>label</a:t>
            </a:r>
            <a:r>
              <a:rPr lang="tr-TR" dirty="0"/>
              <a:t> sütununda ise bu metinlerin anksiyete durumuna göre etiketlendirilmiş sınıflandırmaları bulunmaktadır. </a:t>
            </a:r>
            <a:br>
              <a:rPr lang="tr-TR" dirty="0"/>
            </a:br>
            <a:br>
              <a:rPr lang="tr-TR" dirty="0"/>
            </a:br>
            <a:r>
              <a:rPr lang="tr-TR" dirty="0"/>
              <a:t>Etiketler </a:t>
            </a:r>
            <a:r>
              <a:rPr lang="tr-TR" b="1" dirty="0"/>
              <a:t>"1"</a:t>
            </a:r>
            <a:r>
              <a:rPr lang="tr-TR" dirty="0"/>
              <a:t> ve </a:t>
            </a:r>
            <a:r>
              <a:rPr lang="tr-TR" b="1" dirty="0"/>
              <a:t>"0"</a:t>
            </a:r>
            <a:r>
              <a:rPr lang="tr-TR" dirty="0"/>
              <a:t> olarak belirlenmiş olup bu değerler "</a:t>
            </a:r>
            <a:r>
              <a:rPr lang="tr-TR" b="1" dirty="0"/>
              <a:t>Anksiyete</a:t>
            </a:r>
            <a:r>
              <a:rPr lang="tr-TR" dirty="0"/>
              <a:t>" ve "</a:t>
            </a:r>
            <a:r>
              <a:rPr lang="tr-TR" b="1" dirty="0"/>
              <a:t>Normal</a:t>
            </a:r>
            <a:r>
              <a:rPr lang="tr-TR" dirty="0"/>
              <a:t>" değerlerine karşılık gelmektedir. Metinler bu iki kategoriden birine aittir.</a:t>
            </a:r>
          </a:p>
        </p:txBody>
      </p:sp>
      <p:pic>
        <p:nvPicPr>
          <p:cNvPr id="16" name="Resim 15">
            <a:extLst>
              <a:ext uri="{FF2B5EF4-FFF2-40B4-BE49-F238E27FC236}">
                <a16:creationId xmlns:a16="http://schemas.microsoft.com/office/drawing/2014/main" id="{12E2A312-A8D1-55C6-2C68-54A47CFD6D36}"/>
              </a:ext>
            </a:extLst>
          </p:cNvPr>
          <p:cNvPicPr>
            <a:picLocks noChangeAspect="1"/>
          </p:cNvPicPr>
          <p:nvPr/>
        </p:nvPicPr>
        <p:blipFill>
          <a:blip r:embed="rId3"/>
          <a:srcRect/>
          <a:stretch/>
        </p:blipFill>
        <p:spPr>
          <a:xfrm>
            <a:off x="3871509" y="3429000"/>
            <a:ext cx="4448974" cy="2965983"/>
          </a:xfrm>
          <a:prstGeom prst="rect">
            <a:avLst/>
          </a:prstGeom>
          <a:noFill/>
        </p:spPr>
      </p:pic>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5031FE9-9059-4FE8-B4AC-9771F23A1B89}"/>
              </a:ext>
            </a:extLst>
          </p:cNvPr>
          <p:cNvSpPr>
            <a:spLocks noGrp="1"/>
          </p:cNvSpPr>
          <p:nvPr>
            <p:ph type="title"/>
          </p:nvPr>
        </p:nvSpPr>
        <p:spPr>
          <a:xfrm>
            <a:off x="1691148" y="4059652"/>
            <a:ext cx="3264310" cy="1657747"/>
          </a:xfrm>
        </p:spPr>
        <p:txBody>
          <a:bodyPr rtlCol="0">
            <a:normAutofit/>
          </a:bodyPr>
          <a:lstStyle/>
          <a:p>
            <a:pPr rtl="0"/>
            <a:r>
              <a:rPr lang="tr-TR" b="1" dirty="0"/>
              <a:t>Veri Analizinde Kullanılan Yöntemler</a:t>
            </a:r>
          </a:p>
        </p:txBody>
      </p:sp>
      <p:sp>
        <p:nvSpPr>
          <p:cNvPr id="3" name="İçerik Yer Tutucusu 2">
            <a:extLst>
              <a:ext uri="{FF2B5EF4-FFF2-40B4-BE49-F238E27FC236}">
                <a16:creationId xmlns:a16="http://schemas.microsoft.com/office/drawing/2014/main" id="{D4A2EB3F-4D60-451F-8F45-7D6654D2FCD9}"/>
              </a:ext>
            </a:extLst>
          </p:cNvPr>
          <p:cNvSpPr>
            <a:spLocks noGrp="1"/>
          </p:cNvSpPr>
          <p:nvPr>
            <p:ph type="body" sz="quarter" idx="13"/>
          </p:nvPr>
        </p:nvSpPr>
        <p:spPr>
          <a:xfrm>
            <a:off x="5915979" y="549705"/>
            <a:ext cx="5433204" cy="365125"/>
          </a:xfrm>
        </p:spPr>
        <p:txBody>
          <a:bodyPr vert="horz" lIns="91440" tIns="45720" rIns="91440" bIns="45720" rtlCol="0" anchor="t">
            <a:normAutofit lnSpcReduction="10000"/>
          </a:bodyPr>
          <a:lstStyle/>
          <a:p>
            <a:pPr rtl="0"/>
            <a:r>
              <a:rPr lang="tr-TR" b="1" dirty="0"/>
              <a:t>VERİ İŞLEME</a:t>
            </a:r>
          </a:p>
        </p:txBody>
      </p:sp>
      <p:sp>
        <p:nvSpPr>
          <p:cNvPr id="4" name="Metin Yer Tutucusu 3">
            <a:extLst>
              <a:ext uri="{FF2B5EF4-FFF2-40B4-BE49-F238E27FC236}">
                <a16:creationId xmlns:a16="http://schemas.microsoft.com/office/drawing/2014/main" id="{AC1C80FB-53F9-42EE-B1E6-D0F998EC5DFA}"/>
              </a:ext>
            </a:extLst>
          </p:cNvPr>
          <p:cNvSpPr>
            <a:spLocks noGrp="1"/>
          </p:cNvSpPr>
          <p:nvPr>
            <p:ph type="body" sz="quarter" idx="15"/>
          </p:nvPr>
        </p:nvSpPr>
        <p:spPr>
          <a:xfrm>
            <a:off x="5915979" y="933246"/>
            <a:ext cx="5431971" cy="557950"/>
          </a:xfrm>
        </p:spPr>
        <p:txBody>
          <a:bodyPr rtlCol="0">
            <a:normAutofit/>
          </a:bodyPr>
          <a:lstStyle/>
          <a:p>
            <a:pPr rtl="0"/>
            <a:r>
              <a:rPr lang="tr-TR" sz="1500" dirty="0"/>
              <a:t>Modelin doğruluğunu artırmak ve metinleri doğru şekilde analiz etmek için kritik öneme sahip olan hazırlık sürecidir.</a:t>
            </a:r>
          </a:p>
        </p:txBody>
      </p:sp>
      <p:sp>
        <p:nvSpPr>
          <p:cNvPr id="5" name="Metin Yer Tutucusu 4">
            <a:extLst>
              <a:ext uri="{FF2B5EF4-FFF2-40B4-BE49-F238E27FC236}">
                <a16:creationId xmlns:a16="http://schemas.microsoft.com/office/drawing/2014/main" id="{E81BA2B5-6A90-4204-ABDD-7183FBB03A02}"/>
              </a:ext>
            </a:extLst>
          </p:cNvPr>
          <p:cNvSpPr>
            <a:spLocks noGrp="1"/>
          </p:cNvSpPr>
          <p:nvPr>
            <p:ph type="body" sz="quarter" idx="23"/>
          </p:nvPr>
        </p:nvSpPr>
        <p:spPr>
          <a:xfrm>
            <a:off x="5914746" y="1704029"/>
            <a:ext cx="5433204" cy="365125"/>
          </a:xfrm>
        </p:spPr>
        <p:txBody>
          <a:bodyPr rtlCol="0">
            <a:normAutofit lnSpcReduction="10000"/>
          </a:bodyPr>
          <a:lstStyle/>
          <a:p>
            <a:r>
              <a:rPr lang="tr-TR" b="1" dirty="0"/>
              <a:t>METİN TEMİZLEME</a:t>
            </a:r>
          </a:p>
        </p:txBody>
      </p:sp>
      <p:sp>
        <p:nvSpPr>
          <p:cNvPr id="6" name="Metin Yer Tutucusu 5">
            <a:extLst>
              <a:ext uri="{FF2B5EF4-FFF2-40B4-BE49-F238E27FC236}">
                <a16:creationId xmlns:a16="http://schemas.microsoft.com/office/drawing/2014/main" id="{7E7D4C34-22A0-4D54-A07D-E1E9A11463E5}"/>
              </a:ext>
            </a:extLst>
          </p:cNvPr>
          <p:cNvSpPr>
            <a:spLocks noGrp="1"/>
          </p:cNvSpPr>
          <p:nvPr>
            <p:ph type="body" sz="quarter" idx="24"/>
          </p:nvPr>
        </p:nvSpPr>
        <p:spPr>
          <a:xfrm>
            <a:off x="5914746" y="2068159"/>
            <a:ext cx="5431971" cy="823396"/>
          </a:xfrm>
        </p:spPr>
        <p:txBody>
          <a:bodyPr rtlCol="0">
            <a:noAutofit/>
          </a:bodyPr>
          <a:lstStyle/>
          <a:p>
            <a:pPr rtl="0"/>
            <a:r>
              <a:rPr lang="tr-TR" sz="1500" dirty="0"/>
              <a:t>Metnin anlamını koruyarak gereksiz bilgi yükünü ortadan kaldırmak amaçlanmaktadır. Gereksiz karakterler, semboller, boşluklar ve anlamsız bilgiler temizlenir.</a:t>
            </a:r>
          </a:p>
        </p:txBody>
      </p:sp>
      <p:sp>
        <p:nvSpPr>
          <p:cNvPr id="7" name="Metin Yer Tutucusu 6">
            <a:extLst>
              <a:ext uri="{FF2B5EF4-FFF2-40B4-BE49-F238E27FC236}">
                <a16:creationId xmlns:a16="http://schemas.microsoft.com/office/drawing/2014/main" id="{301D392D-FB66-47A0-B628-5ADE822A2CFF}"/>
              </a:ext>
            </a:extLst>
          </p:cNvPr>
          <p:cNvSpPr>
            <a:spLocks noGrp="1"/>
          </p:cNvSpPr>
          <p:nvPr>
            <p:ph type="body" sz="quarter" idx="25"/>
          </p:nvPr>
        </p:nvSpPr>
        <p:spPr>
          <a:xfrm>
            <a:off x="5913513" y="3101204"/>
            <a:ext cx="5433204" cy="365125"/>
          </a:xfrm>
        </p:spPr>
        <p:txBody>
          <a:bodyPr rtlCol="0">
            <a:normAutofit lnSpcReduction="10000"/>
          </a:bodyPr>
          <a:lstStyle/>
          <a:p>
            <a:r>
              <a:rPr lang="tr-TR" b="1" dirty="0"/>
              <a:t>STOP WORDS TEMİZLEME</a:t>
            </a:r>
          </a:p>
        </p:txBody>
      </p:sp>
      <p:sp>
        <p:nvSpPr>
          <p:cNvPr id="8" name="Metin Yer Tutucusu 7">
            <a:extLst>
              <a:ext uri="{FF2B5EF4-FFF2-40B4-BE49-F238E27FC236}">
                <a16:creationId xmlns:a16="http://schemas.microsoft.com/office/drawing/2014/main" id="{51C26CE0-2506-4B44-A26F-C12BFA5B18B5}"/>
              </a:ext>
            </a:extLst>
          </p:cNvPr>
          <p:cNvSpPr>
            <a:spLocks noGrp="1"/>
          </p:cNvSpPr>
          <p:nvPr>
            <p:ph type="body" sz="quarter" idx="26"/>
          </p:nvPr>
        </p:nvSpPr>
        <p:spPr>
          <a:xfrm>
            <a:off x="5914746" y="3434049"/>
            <a:ext cx="5431971" cy="843940"/>
          </a:xfrm>
        </p:spPr>
        <p:txBody>
          <a:bodyPr rtlCol="0">
            <a:noAutofit/>
          </a:bodyPr>
          <a:lstStyle/>
          <a:p>
            <a:pPr rtl="0"/>
            <a:r>
              <a:rPr lang="tr-TR" sz="1500" dirty="0"/>
              <a:t>Metnin anlamına katkı sağlamayan kelimeler (and, or, this…) "Stop Words" olarak adlandırılır. Bu kelimeler, modelin doğruluğunu arttırabilmek için metinden çıkarılmaktadır.</a:t>
            </a:r>
          </a:p>
        </p:txBody>
      </p:sp>
      <p:sp>
        <p:nvSpPr>
          <p:cNvPr id="9" name="Metin Yer Tutucusu 8">
            <a:extLst>
              <a:ext uri="{FF2B5EF4-FFF2-40B4-BE49-F238E27FC236}">
                <a16:creationId xmlns:a16="http://schemas.microsoft.com/office/drawing/2014/main" id="{868F40F8-BF35-45E9-B3DD-5436362D746E}"/>
              </a:ext>
            </a:extLst>
          </p:cNvPr>
          <p:cNvSpPr>
            <a:spLocks noGrp="1"/>
          </p:cNvSpPr>
          <p:nvPr>
            <p:ph type="body" sz="quarter" idx="27"/>
          </p:nvPr>
        </p:nvSpPr>
        <p:spPr>
          <a:xfrm>
            <a:off x="5913513" y="4493584"/>
            <a:ext cx="5433204" cy="365125"/>
          </a:xfrm>
        </p:spPr>
        <p:txBody>
          <a:bodyPr rtlCol="0">
            <a:normAutofit lnSpcReduction="10000"/>
          </a:bodyPr>
          <a:lstStyle/>
          <a:p>
            <a:r>
              <a:rPr lang="tr-TR" b="1" dirty="0"/>
              <a:t>LEMMATİZATİON (KÖK BULMA)</a:t>
            </a:r>
          </a:p>
        </p:txBody>
      </p:sp>
      <p:sp>
        <p:nvSpPr>
          <p:cNvPr id="10" name="Metin Yer Tutucusu 9">
            <a:extLst>
              <a:ext uri="{FF2B5EF4-FFF2-40B4-BE49-F238E27FC236}">
                <a16:creationId xmlns:a16="http://schemas.microsoft.com/office/drawing/2014/main" id="{7F39C97C-2DDC-4706-B96C-B02FAE53A426}"/>
              </a:ext>
            </a:extLst>
          </p:cNvPr>
          <p:cNvSpPr>
            <a:spLocks noGrp="1"/>
          </p:cNvSpPr>
          <p:nvPr>
            <p:ph type="body" sz="quarter" idx="28"/>
          </p:nvPr>
        </p:nvSpPr>
        <p:spPr>
          <a:xfrm>
            <a:off x="5914746" y="4875383"/>
            <a:ext cx="5431971" cy="1289443"/>
          </a:xfrm>
        </p:spPr>
        <p:txBody>
          <a:bodyPr rtlCol="0">
            <a:noAutofit/>
          </a:bodyPr>
          <a:lstStyle/>
          <a:p>
            <a:pPr rtl="0"/>
            <a:r>
              <a:rPr lang="tr-TR" sz="1500" dirty="0"/>
              <a:t>Kelimeler, anlamlarını kaybetmeden köklerine indirgenir.</a:t>
            </a:r>
            <a:br>
              <a:rPr lang="tr-TR" sz="1500" dirty="0"/>
            </a:br>
            <a:r>
              <a:rPr lang="tr-TR" sz="1500" dirty="0"/>
              <a:t>Örneğin, "running" kelimesi "run" olarak, "better" kelimesi "good" olarak köklerine dönüştürülür. Bu işlem, modelin kelimeleri daha anlamlı bir şekilde analiz etmesine olanak tanır. Eş anlamlı kelimeleri eşit bir şekilde değerlendirebilir.</a:t>
            </a:r>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37E1C88-627C-4655-A4FB-0BB02EDB078A}"/>
              </a:ext>
            </a:extLst>
          </p:cNvPr>
          <p:cNvSpPr>
            <a:spLocks noGrp="1"/>
          </p:cNvSpPr>
          <p:nvPr>
            <p:ph type="title"/>
          </p:nvPr>
        </p:nvSpPr>
        <p:spPr>
          <a:xfrm>
            <a:off x="917370" y="476866"/>
            <a:ext cx="7508875" cy="624347"/>
          </a:xfrm>
        </p:spPr>
        <p:txBody>
          <a:bodyPr rtlCol="0"/>
          <a:lstStyle/>
          <a:p>
            <a:pPr rtl="0"/>
            <a:r>
              <a:rPr lang="tr-TR" b="1" dirty="0"/>
              <a:t>Veri işleme ve ön hazırlık</a:t>
            </a:r>
          </a:p>
        </p:txBody>
      </p:sp>
      <p:sp>
        <p:nvSpPr>
          <p:cNvPr id="3" name="İçerik Yer Tutucusu 2">
            <a:extLst>
              <a:ext uri="{FF2B5EF4-FFF2-40B4-BE49-F238E27FC236}">
                <a16:creationId xmlns:a16="http://schemas.microsoft.com/office/drawing/2014/main" id="{033634FE-ADF0-4BC3-A0A9-447EA9DD096B}"/>
              </a:ext>
            </a:extLst>
          </p:cNvPr>
          <p:cNvSpPr>
            <a:spLocks noGrp="1"/>
          </p:cNvSpPr>
          <p:nvPr>
            <p:ph type="body" idx="1"/>
          </p:nvPr>
        </p:nvSpPr>
        <p:spPr>
          <a:xfrm>
            <a:off x="917370" y="2974666"/>
            <a:ext cx="7735016" cy="1494502"/>
          </a:xfrm>
        </p:spPr>
        <p:txBody>
          <a:bodyPr vert="horz" lIns="91440" tIns="45720" rIns="91440" bIns="45720" rtlCol="0" anchor="t">
            <a:normAutofit lnSpcReduction="10000"/>
          </a:bodyPr>
          <a:lstStyle/>
          <a:p>
            <a:pPr rtl="0"/>
            <a:r>
              <a:rPr lang="tr-TR" sz="1600" b="1" noProof="1"/>
              <a:t>TF-IDF KULLANIMI</a:t>
            </a:r>
          </a:p>
          <a:p>
            <a:pPr rtl="0"/>
            <a:r>
              <a:rPr lang="tr-TR" sz="1500" dirty="0"/>
              <a:t>TF-IDF, metni anlamak ve önemli kelimeleri belirlemek için kullanılan bir yöntemdir. TF, bir kelimenin belirli bir belgede kaç kez geçtiğini ölçerken, IDF o kelimenin genel koleksiyondaki nadirliğini ölçer. TF-IDF, sık geçen ancak yaygın olmayan kelimelere daha fazla ağırlık verir, böylece modelin daha anlamlı ve önemli kelimelere odaklanmasını sağlar.</a:t>
            </a:r>
            <a:endParaRPr lang="tr-TR" sz="1500" b="1" noProof="1"/>
          </a:p>
        </p:txBody>
      </p:sp>
      <p:sp>
        <p:nvSpPr>
          <p:cNvPr id="7" name="İçerik Yer Tutucusu 2">
            <a:extLst>
              <a:ext uri="{FF2B5EF4-FFF2-40B4-BE49-F238E27FC236}">
                <a16:creationId xmlns:a16="http://schemas.microsoft.com/office/drawing/2014/main" id="{074A42AB-62B2-CF14-06B3-98CC2EFEC4BD}"/>
              </a:ext>
            </a:extLst>
          </p:cNvPr>
          <p:cNvSpPr txBox="1">
            <a:spLocks/>
          </p:cNvSpPr>
          <p:nvPr/>
        </p:nvSpPr>
        <p:spPr>
          <a:xfrm>
            <a:off x="917370" y="1248389"/>
            <a:ext cx="8600255" cy="1715883"/>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sz="1600" b="1" noProof="1"/>
              <a:t>METİNLERİN DÜZENLENMESİ (HATALI KELİMELERİN DÜZENLENMESİ)</a:t>
            </a:r>
          </a:p>
          <a:p>
            <a:r>
              <a:rPr lang="tr-TR" sz="1500" noProof="1"/>
              <a:t>Metinlerdeki hatalı kelimeler, yanlış yazımlar, kısaltmalar veya eksik ifadeler tespit edilip düzeltilerek doğru biçimlerine dönüştürülür. Bu işlem, dilin doğru kullanımını sağlamak ve metnin anlamını bozan hataları ortadan kaldırmak amacıyla yapılır. Örneğin, "dont" kelimesi "don't", "u" ise "you" olarak düzeltilir. Ayrıca, dil bilgisi hataları veya kelime seçimindeki yanlışlıklar da düzeltilir. Bu düzenlemeler, metnin daha açık, doğru ve anlaşılır olmasını sağlar, böylece modelin metni daha etkin bir şekilde analiz etmesine olanak tanır.</a:t>
            </a:r>
          </a:p>
        </p:txBody>
      </p:sp>
      <p:sp>
        <p:nvSpPr>
          <p:cNvPr id="8" name="İçerik Yer Tutucusu 2">
            <a:extLst>
              <a:ext uri="{FF2B5EF4-FFF2-40B4-BE49-F238E27FC236}">
                <a16:creationId xmlns:a16="http://schemas.microsoft.com/office/drawing/2014/main" id="{BF8CE592-1270-68FC-8F94-3FD24605A65B}"/>
              </a:ext>
            </a:extLst>
          </p:cNvPr>
          <p:cNvSpPr txBox="1">
            <a:spLocks/>
          </p:cNvSpPr>
          <p:nvPr/>
        </p:nvSpPr>
        <p:spPr>
          <a:xfrm>
            <a:off x="917370" y="4489393"/>
            <a:ext cx="7027094" cy="18577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Arial" panose="020B06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Arial" panose="020B06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Arial" panose="020B06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tr-TR" sz="1600" b="1" noProof="1"/>
              <a:t>VERİ BÖLME</a:t>
            </a:r>
          </a:p>
          <a:p>
            <a:r>
              <a:rPr lang="tr-TR" sz="1500" noProof="1"/>
              <a:t>Modelin aşırı öğrenmesini "Overfitting" engellemek ve genelleme gücünü</a:t>
            </a:r>
            <a:br>
              <a:rPr lang="tr-TR" sz="1500" noProof="1"/>
            </a:br>
            <a:r>
              <a:rPr lang="tr-TR" sz="1500" noProof="1"/>
              <a:t>arttırmak için veri seti üç parçaya ayrılır bunlar: Eğitim, Doğrulama, Test’tir.</a:t>
            </a:r>
            <a:br>
              <a:rPr lang="tr-TR" sz="1500" noProof="1"/>
            </a:br>
            <a:r>
              <a:rPr lang="tr-TR" sz="1500" b="1" noProof="1"/>
              <a:t>Eğitim Veri Seti: </a:t>
            </a:r>
            <a:r>
              <a:rPr lang="tr-TR" sz="1500" noProof="1"/>
              <a:t>Modelin öğrenmesi sırasında kullanılan veri setidir.</a:t>
            </a:r>
            <a:br>
              <a:rPr lang="tr-TR" sz="1500" noProof="1"/>
            </a:br>
            <a:r>
              <a:rPr lang="tr-TR" sz="1500" b="1" noProof="1"/>
              <a:t>Doğrulama Veri Seti: </a:t>
            </a:r>
            <a:r>
              <a:rPr lang="tr-TR" sz="1500" noProof="1"/>
              <a:t>Modelin eğitimi sırasında doğruluğunu ölçmek ve hiper parametre ayarlarını yapmak için kullanılan veri setidir.</a:t>
            </a:r>
            <a:br>
              <a:rPr lang="tr-TR" sz="1500" noProof="1"/>
            </a:br>
            <a:r>
              <a:rPr lang="tr-TR" sz="1500" b="1" noProof="1"/>
              <a:t>Test Veri Seti: </a:t>
            </a:r>
            <a:r>
              <a:rPr lang="tr-TR" sz="1500" noProof="1"/>
              <a:t>Modelin performansını ölçmek için kullanılan veri setidir.</a:t>
            </a:r>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Başlık 7">
            <a:extLst>
              <a:ext uri="{FF2B5EF4-FFF2-40B4-BE49-F238E27FC236}">
                <a16:creationId xmlns:a16="http://schemas.microsoft.com/office/drawing/2014/main" id="{F2ADCBA2-80F4-1918-3337-7509F4489AFF}"/>
              </a:ext>
            </a:extLst>
          </p:cNvPr>
          <p:cNvSpPr>
            <a:spLocks noGrp="1"/>
          </p:cNvSpPr>
          <p:nvPr>
            <p:ph type="title"/>
          </p:nvPr>
        </p:nvSpPr>
        <p:spPr>
          <a:xfrm>
            <a:off x="838200" y="706126"/>
            <a:ext cx="10515600" cy="578771"/>
          </a:xfrm>
        </p:spPr>
        <p:txBody>
          <a:bodyPr>
            <a:normAutofit/>
          </a:bodyPr>
          <a:lstStyle/>
          <a:p>
            <a:r>
              <a:rPr lang="tr-TR" b="1" dirty="0"/>
              <a:t>Normal METİNLERİNDE en sık GEÇEN KELİMELER</a:t>
            </a:r>
          </a:p>
        </p:txBody>
      </p:sp>
      <p:pic>
        <p:nvPicPr>
          <p:cNvPr id="42" name="Resim 41">
            <a:extLst>
              <a:ext uri="{FF2B5EF4-FFF2-40B4-BE49-F238E27FC236}">
                <a16:creationId xmlns:a16="http://schemas.microsoft.com/office/drawing/2014/main" id="{37214CE5-408B-670C-ADBA-B7FC56D7078E}"/>
              </a:ext>
            </a:extLst>
          </p:cNvPr>
          <p:cNvPicPr>
            <a:picLocks noChangeAspect="1"/>
          </p:cNvPicPr>
          <p:nvPr/>
        </p:nvPicPr>
        <p:blipFill>
          <a:blip r:embed="rId3"/>
          <a:srcRect/>
          <a:stretch/>
        </p:blipFill>
        <p:spPr>
          <a:xfrm>
            <a:off x="1236000" y="1284897"/>
            <a:ext cx="9720000" cy="4860000"/>
          </a:xfrm>
          <a:prstGeom prst="rect">
            <a:avLst/>
          </a:prstGeom>
        </p:spPr>
      </p:pic>
    </p:spTree>
    <p:extLst>
      <p:ext uri="{BB962C8B-B14F-4D97-AF65-F5344CB8AC3E}">
        <p14:creationId xmlns:p14="http://schemas.microsoft.com/office/powerpoint/2010/main" val="3477453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F1E9-FE4D-C2EB-E060-A121EE511370}"/>
            </a:ext>
          </a:extLst>
        </p:cNvPr>
        <p:cNvGrpSpPr/>
        <p:nvPr/>
      </p:nvGrpSpPr>
      <p:grpSpPr>
        <a:xfrm>
          <a:off x="0" y="0"/>
          <a:ext cx="0" cy="0"/>
          <a:chOff x="0" y="0"/>
          <a:chExt cx="0" cy="0"/>
        </a:xfrm>
      </p:grpSpPr>
      <p:sp>
        <p:nvSpPr>
          <p:cNvPr id="8" name="Başlık 7">
            <a:extLst>
              <a:ext uri="{FF2B5EF4-FFF2-40B4-BE49-F238E27FC236}">
                <a16:creationId xmlns:a16="http://schemas.microsoft.com/office/drawing/2014/main" id="{A322F201-E6B2-4BE7-D3F2-B903C2596DAB}"/>
              </a:ext>
            </a:extLst>
          </p:cNvPr>
          <p:cNvSpPr>
            <a:spLocks noGrp="1"/>
          </p:cNvSpPr>
          <p:nvPr>
            <p:ph type="title"/>
          </p:nvPr>
        </p:nvSpPr>
        <p:spPr>
          <a:xfrm>
            <a:off x="591164" y="706126"/>
            <a:ext cx="11009671" cy="578771"/>
          </a:xfrm>
        </p:spPr>
        <p:txBody>
          <a:bodyPr>
            <a:normAutofit/>
          </a:bodyPr>
          <a:lstStyle/>
          <a:p>
            <a:r>
              <a:rPr lang="tr-TR" b="1" dirty="0"/>
              <a:t>ANKSİYETE METİNLERİNDE en sık GEÇEN KELİMELER</a:t>
            </a:r>
          </a:p>
        </p:txBody>
      </p:sp>
      <p:pic>
        <p:nvPicPr>
          <p:cNvPr id="3" name="Resim 2" descr="metin, yazı tipi, grafik, grafik tasarım içeren bir resim&#10;&#10;Yapay zeka tarafından oluşturulan içerik yanlış olabilir.">
            <a:extLst>
              <a:ext uri="{FF2B5EF4-FFF2-40B4-BE49-F238E27FC236}">
                <a16:creationId xmlns:a16="http://schemas.microsoft.com/office/drawing/2014/main" id="{74F33D1C-77F3-3161-8A6E-0F72E0F3EF6F}"/>
              </a:ext>
            </a:extLst>
          </p:cNvPr>
          <p:cNvPicPr>
            <a:picLocks noChangeAspect="1"/>
          </p:cNvPicPr>
          <p:nvPr/>
        </p:nvPicPr>
        <p:blipFill>
          <a:blip r:embed="rId3"/>
          <a:stretch>
            <a:fillRect/>
          </a:stretch>
        </p:blipFill>
        <p:spPr>
          <a:xfrm>
            <a:off x="1236000" y="1291874"/>
            <a:ext cx="9720000" cy="4860000"/>
          </a:xfrm>
          <a:prstGeom prst="rect">
            <a:avLst/>
          </a:prstGeom>
        </p:spPr>
      </p:pic>
    </p:spTree>
    <p:extLst>
      <p:ext uri="{BB962C8B-B14F-4D97-AF65-F5344CB8AC3E}">
        <p14:creationId xmlns:p14="http://schemas.microsoft.com/office/powerpoint/2010/main" val="3357599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9DE7F2-E890-4744-88DD-A75F5E300513}"/>
              </a:ext>
            </a:extLst>
          </p:cNvPr>
          <p:cNvSpPr>
            <a:spLocks noGrp="1"/>
          </p:cNvSpPr>
          <p:nvPr>
            <p:ph type="ctrTitle"/>
          </p:nvPr>
        </p:nvSpPr>
        <p:spPr>
          <a:xfrm>
            <a:off x="6823587" y="1757516"/>
            <a:ext cx="4347333" cy="3342968"/>
          </a:xfrm>
        </p:spPr>
        <p:txBody>
          <a:bodyPr rtlCol="0"/>
          <a:lstStyle/>
          <a:p>
            <a:pPr algn="ctr" rtl="0"/>
            <a:r>
              <a:rPr lang="tr-TR" dirty="0"/>
              <a:t>YAPAY ZEKA Modellerinin OLUŞTURULMASI ve</a:t>
            </a:r>
            <a:br>
              <a:rPr lang="tr-TR" dirty="0"/>
            </a:br>
            <a:r>
              <a:rPr lang="tr-TR" dirty="0"/>
              <a:t>Eğitilmesi </a:t>
            </a:r>
          </a:p>
        </p:txBody>
      </p:sp>
    </p:spTree>
    <p:extLst>
      <p:ext uri="{BB962C8B-B14F-4D97-AF65-F5344CB8AC3E}">
        <p14:creationId xmlns:p14="http://schemas.microsoft.com/office/powerpoint/2010/main" val="707789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CE54ABB-4929-4810-950B-2DAEA0A5BAB4}"/>
              </a:ext>
            </a:extLst>
          </p:cNvPr>
          <p:cNvSpPr>
            <a:spLocks noGrp="1"/>
          </p:cNvSpPr>
          <p:nvPr>
            <p:ph type="title"/>
          </p:nvPr>
        </p:nvSpPr>
        <p:spPr>
          <a:xfrm>
            <a:off x="1528911" y="459779"/>
            <a:ext cx="9134168" cy="661320"/>
          </a:xfrm>
        </p:spPr>
        <p:txBody>
          <a:bodyPr rtlCol="0">
            <a:normAutofit fontScale="90000"/>
          </a:bodyPr>
          <a:lstStyle/>
          <a:p>
            <a:pPr rtl="0"/>
            <a:r>
              <a:rPr lang="tr-TR" b="1" dirty="0"/>
              <a:t>Projedeki Makine Öğrenmesi Algoritmaları</a:t>
            </a:r>
          </a:p>
        </p:txBody>
      </p:sp>
      <p:sp>
        <p:nvSpPr>
          <p:cNvPr id="7" name="İçerik Yer Tutucusu 6">
            <a:extLst>
              <a:ext uri="{FF2B5EF4-FFF2-40B4-BE49-F238E27FC236}">
                <a16:creationId xmlns:a16="http://schemas.microsoft.com/office/drawing/2014/main" id="{6B35F89A-6CDF-41F7-BD87-18B45BD7330B}"/>
              </a:ext>
            </a:extLst>
          </p:cNvPr>
          <p:cNvSpPr>
            <a:spLocks noGrp="1"/>
          </p:cNvSpPr>
          <p:nvPr>
            <p:ph sz="half" idx="2"/>
          </p:nvPr>
        </p:nvSpPr>
        <p:spPr>
          <a:xfrm>
            <a:off x="1050653" y="1379513"/>
            <a:ext cx="10090693" cy="1029390"/>
          </a:xfrm>
        </p:spPr>
        <p:txBody>
          <a:bodyPr vert="horz" lIns="91440" tIns="45720" rIns="91440" bIns="45720" rtlCol="0" anchor="t">
            <a:normAutofit/>
          </a:bodyPr>
          <a:lstStyle/>
          <a:p>
            <a:pPr rtl="0"/>
            <a:r>
              <a:rPr lang="tr-TR" sz="1600" b="1" noProof="1"/>
              <a:t>LOGİSTİC REGRESSİON: </a:t>
            </a:r>
            <a:r>
              <a:rPr lang="tr-TR" sz="1500" noProof="1"/>
              <a:t>İkili sınıflandırma için kullanılan doğrusal bir modeldir. Özelliklerin lineer kombinasyonu ile sınıfın olasılığı hesaplanır. Sigmoid fonksiyonu, bu olasılığı 0-1 arasında dönüştürür. Model, veriye en iyi uyumu sağlamak için parametrelerini ayarlar ve doğrusal karar sınırları varsayar.</a:t>
            </a:r>
            <a:br>
              <a:rPr lang="tr-TR" sz="1500" noProof="1"/>
            </a:br>
            <a:r>
              <a:rPr lang="tr-TR" sz="1500" noProof="1"/>
              <a:t>Bu model, doğrusal ilişkilerde başarılıdır ancak karmaşık sınıflandırma problemleri için sınırlıdır.</a:t>
            </a:r>
            <a:endParaRPr lang="tr-TR" sz="1600" b="1" noProof="1"/>
          </a:p>
          <a:p>
            <a:pPr rtl="0"/>
            <a:endParaRPr lang="tr-TR" noProof="1"/>
          </a:p>
        </p:txBody>
      </p:sp>
      <p:sp>
        <p:nvSpPr>
          <p:cNvPr id="34" name="İçerik Yer Tutucusu 6">
            <a:extLst>
              <a:ext uri="{FF2B5EF4-FFF2-40B4-BE49-F238E27FC236}">
                <a16:creationId xmlns:a16="http://schemas.microsoft.com/office/drawing/2014/main" id="{6829C29A-6598-14E5-515C-2DA8669784C1}"/>
              </a:ext>
            </a:extLst>
          </p:cNvPr>
          <p:cNvSpPr txBox="1">
            <a:spLocks/>
          </p:cNvSpPr>
          <p:nvPr/>
        </p:nvSpPr>
        <p:spPr>
          <a:xfrm>
            <a:off x="1050625" y="2408901"/>
            <a:ext cx="10090693" cy="1029390"/>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RANDOM FOREST: </a:t>
            </a:r>
            <a:r>
              <a:rPr lang="tr-TR" sz="1500" noProof="1"/>
              <a:t>Birden fazla karar ağacının birleşimidir. Her ağaç, eğitim verisinin rastgele bir alt kümesiyle eğitilir ve çoğunluk oyu ile tahmin yapılır. Bu yaklaşım, modelin overfitting yapmasını engeller ve daha doğru tahminler yapmasını sağlar. Karar ağaçları bağımsız tahminler üreterek modelin daha sağlam sonuçlar sunmasını sağlar.</a:t>
            </a:r>
            <a:endParaRPr lang="tr-TR" noProof="1"/>
          </a:p>
        </p:txBody>
      </p:sp>
      <p:sp>
        <p:nvSpPr>
          <p:cNvPr id="35" name="İçerik Yer Tutucusu 6">
            <a:extLst>
              <a:ext uri="{FF2B5EF4-FFF2-40B4-BE49-F238E27FC236}">
                <a16:creationId xmlns:a16="http://schemas.microsoft.com/office/drawing/2014/main" id="{45D58F41-0B8B-AA18-2990-9224566D3A0E}"/>
              </a:ext>
            </a:extLst>
          </p:cNvPr>
          <p:cNvSpPr txBox="1">
            <a:spLocks/>
          </p:cNvSpPr>
          <p:nvPr/>
        </p:nvSpPr>
        <p:spPr>
          <a:xfrm>
            <a:off x="1050625" y="3426001"/>
            <a:ext cx="10090693" cy="80563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LİNEAR-SVM: </a:t>
            </a:r>
            <a:r>
              <a:rPr lang="tr-TR" sz="1500" noProof="1"/>
              <a:t>Veriyi en geniş mesafeyle ayıracak doğrusal bir sınır oluşturur. Bu model, sınıflar arasındaki en büyük mesafeyi maksimize etmeyi hedefler. Yüksek boyutlu verilerde de etkili çalışır, çünkü karar sınırı yalnızca sınıflar arasındaki önemli noktalar (destek vektörleri) ile belirlenir.</a:t>
            </a:r>
            <a:endParaRPr lang="tr-TR" sz="1600" b="1" noProof="1"/>
          </a:p>
        </p:txBody>
      </p:sp>
      <p:sp>
        <p:nvSpPr>
          <p:cNvPr id="36" name="İçerik Yer Tutucusu 6">
            <a:extLst>
              <a:ext uri="{FF2B5EF4-FFF2-40B4-BE49-F238E27FC236}">
                <a16:creationId xmlns:a16="http://schemas.microsoft.com/office/drawing/2014/main" id="{06D3AF29-1857-9877-28AB-CB58CD253AA7}"/>
              </a:ext>
            </a:extLst>
          </p:cNvPr>
          <p:cNvSpPr txBox="1">
            <a:spLocks/>
          </p:cNvSpPr>
          <p:nvPr/>
        </p:nvSpPr>
        <p:spPr>
          <a:xfrm>
            <a:off x="1050625" y="4231631"/>
            <a:ext cx="10090693" cy="80563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RBF-SVM: </a:t>
            </a:r>
            <a:r>
              <a:rPr lang="tr-TR" sz="1500" noProof="1"/>
              <a:t>Doğrusal olmayan sınıflar için geliştirilmiş bir modeldir. RBF kernel'i, veriyi daha yüksek boyutlu bir uzaya projekte eder, böylece doğrusal olmayan sınıfları ayırabilir. Bu yöntem, veri noktalarının arasındaki benzerlikleri hesaplayarak daha esnek ve karmaşık sınıflandırma sınırları oluşturur.</a:t>
            </a:r>
            <a:endParaRPr lang="tr-TR" sz="1600" b="1" noProof="1"/>
          </a:p>
          <a:p>
            <a:endParaRPr lang="tr-TR" noProof="1"/>
          </a:p>
        </p:txBody>
      </p:sp>
      <p:sp>
        <p:nvSpPr>
          <p:cNvPr id="37" name="İçerik Yer Tutucusu 6">
            <a:extLst>
              <a:ext uri="{FF2B5EF4-FFF2-40B4-BE49-F238E27FC236}">
                <a16:creationId xmlns:a16="http://schemas.microsoft.com/office/drawing/2014/main" id="{54323FD5-2AE9-5819-8C9E-016D1EFE02C5}"/>
              </a:ext>
            </a:extLst>
          </p:cNvPr>
          <p:cNvSpPr txBox="1">
            <a:spLocks/>
          </p:cNvSpPr>
          <p:nvPr/>
        </p:nvSpPr>
        <p:spPr>
          <a:xfrm>
            <a:off x="1050653" y="5037262"/>
            <a:ext cx="10090693" cy="80563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MULTİNOMİAL NAİVE BAYES: </a:t>
            </a:r>
            <a:r>
              <a:rPr lang="tr-TR" sz="1500" noProof="1"/>
              <a:t>Metin sınıflandırma için yaygın kullanılan bir Bayes tabanlı modeldir. Model, her sınıf için kelimelerin sıklıklarını hesaplar ve bu sıklıkları kullanarak sınıflandırma yapar. Basitliği sayesinde büyük veri setlerinde hızlı çalışır, ancak kelimeler arasındaki bağımlılıkları göz ardı eder.</a:t>
            </a:r>
            <a:endParaRPr lang="tr-TR" sz="1600" b="1" noProof="1"/>
          </a:p>
          <a:p>
            <a:endParaRPr lang="tr-TR" noProof="1"/>
          </a:p>
        </p:txBody>
      </p:sp>
    </p:spTree>
    <p:extLst>
      <p:ext uri="{BB962C8B-B14F-4D97-AF65-F5344CB8AC3E}">
        <p14:creationId xmlns:p14="http://schemas.microsoft.com/office/powerpoint/2010/main" val="212117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4E0A63-A388-49B1-A04E-27CE9BD622EF}"/>
              </a:ext>
            </a:extLst>
          </p:cNvPr>
          <p:cNvSpPr>
            <a:spLocks noGrp="1"/>
          </p:cNvSpPr>
          <p:nvPr>
            <p:ph type="title"/>
          </p:nvPr>
        </p:nvSpPr>
        <p:spPr>
          <a:xfrm>
            <a:off x="639099" y="578843"/>
            <a:ext cx="3588772" cy="1325641"/>
          </a:xfrm>
        </p:spPr>
        <p:txBody>
          <a:bodyPr rtlCol="0">
            <a:normAutofit/>
          </a:bodyPr>
          <a:lstStyle/>
          <a:p>
            <a:pPr rtl="0"/>
            <a:r>
              <a:rPr lang="tr-TR" sz="3200" b="1" dirty="0"/>
              <a:t>LOGİSTİC REGRESSİON</a:t>
            </a:r>
          </a:p>
        </p:txBody>
      </p:sp>
      <p:pic>
        <p:nvPicPr>
          <p:cNvPr id="6" name="Resim 5" descr="metin, diyagram, çizgi, öykü gelişim çizgisi; kumpas; grafiğini çıkarma içeren bir resim&#10;&#10;Yapay zeka tarafından oluşturulan içerik yanlış olabilir.">
            <a:extLst>
              <a:ext uri="{FF2B5EF4-FFF2-40B4-BE49-F238E27FC236}">
                <a16:creationId xmlns:a16="http://schemas.microsoft.com/office/drawing/2014/main" id="{324B66F1-0354-D5B8-260A-91E5703E5D4C}"/>
              </a:ext>
            </a:extLst>
          </p:cNvPr>
          <p:cNvPicPr>
            <a:picLocks noChangeAspect="1"/>
          </p:cNvPicPr>
          <p:nvPr/>
        </p:nvPicPr>
        <p:blipFill>
          <a:blip r:embed="rId3"/>
          <a:stretch>
            <a:fillRect/>
          </a:stretch>
        </p:blipFill>
        <p:spPr>
          <a:xfrm>
            <a:off x="5761703" y="297427"/>
            <a:ext cx="5791198" cy="3214115"/>
          </a:xfrm>
          <a:prstGeom prst="rect">
            <a:avLst/>
          </a:prstGeom>
        </p:spPr>
      </p:pic>
      <p:pic>
        <p:nvPicPr>
          <p:cNvPr id="9" name="Resim 8" descr="metin, ekran görüntüsü, çizgi, diyagram içeren bir resim&#10;&#10;Yapay zeka tarafından oluşturulan içerik yanlış olabilir.">
            <a:extLst>
              <a:ext uri="{FF2B5EF4-FFF2-40B4-BE49-F238E27FC236}">
                <a16:creationId xmlns:a16="http://schemas.microsoft.com/office/drawing/2014/main" id="{729327D0-1622-5BF1-D552-6C5D52D37978}"/>
              </a:ext>
            </a:extLst>
          </p:cNvPr>
          <p:cNvPicPr>
            <a:picLocks noChangeAspect="1"/>
          </p:cNvPicPr>
          <p:nvPr/>
        </p:nvPicPr>
        <p:blipFill>
          <a:blip r:embed="rId4"/>
          <a:stretch>
            <a:fillRect/>
          </a:stretch>
        </p:blipFill>
        <p:spPr>
          <a:xfrm>
            <a:off x="4227871" y="3511543"/>
            <a:ext cx="7325030" cy="3246160"/>
          </a:xfrm>
          <a:prstGeom prst="rect">
            <a:avLst/>
          </a:prstGeom>
        </p:spPr>
      </p:pic>
    </p:spTree>
    <p:extLst>
      <p:ext uri="{BB962C8B-B14F-4D97-AF65-F5344CB8AC3E}">
        <p14:creationId xmlns:p14="http://schemas.microsoft.com/office/powerpoint/2010/main" val="2069393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5B1A5-ECA7-7C68-48A4-E1730DDAFE6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FED5A94-BBA8-4B58-D9F6-A6C6AB512240}"/>
              </a:ext>
            </a:extLst>
          </p:cNvPr>
          <p:cNvSpPr>
            <a:spLocks noGrp="1"/>
          </p:cNvSpPr>
          <p:nvPr>
            <p:ph type="title"/>
          </p:nvPr>
        </p:nvSpPr>
        <p:spPr>
          <a:xfrm>
            <a:off x="633695" y="581815"/>
            <a:ext cx="3126656" cy="1217487"/>
          </a:xfrm>
        </p:spPr>
        <p:txBody>
          <a:bodyPr rtlCol="0">
            <a:normAutofit/>
          </a:bodyPr>
          <a:lstStyle/>
          <a:p>
            <a:pPr rtl="0"/>
            <a:r>
              <a:rPr lang="tr-TR" sz="3200" b="1" dirty="0"/>
              <a:t>Random Forest</a:t>
            </a:r>
          </a:p>
        </p:txBody>
      </p:sp>
      <p:pic>
        <p:nvPicPr>
          <p:cNvPr id="4" name="Resim 3" descr="metin, ekran görüntüsü, diyagram, çizgi içeren bir resim&#10;&#10;Yapay zeka tarafından oluşturulan içerik yanlış olabilir.">
            <a:extLst>
              <a:ext uri="{FF2B5EF4-FFF2-40B4-BE49-F238E27FC236}">
                <a16:creationId xmlns:a16="http://schemas.microsoft.com/office/drawing/2014/main" id="{289BF3E2-C4FC-68FC-E06E-F3D78702B6A3}"/>
              </a:ext>
            </a:extLst>
          </p:cNvPr>
          <p:cNvPicPr>
            <a:picLocks noChangeAspect="1"/>
          </p:cNvPicPr>
          <p:nvPr/>
        </p:nvPicPr>
        <p:blipFill>
          <a:blip r:embed="rId3"/>
          <a:stretch>
            <a:fillRect/>
          </a:stretch>
        </p:blipFill>
        <p:spPr>
          <a:xfrm>
            <a:off x="6031610" y="100297"/>
            <a:ext cx="5516863" cy="3149812"/>
          </a:xfrm>
          <a:prstGeom prst="rect">
            <a:avLst/>
          </a:prstGeom>
        </p:spPr>
      </p:pic>
      <p:pic>
        <p:nvPicPr>
          <p:cNvPr id="8" name="Resim 7">
            <a:extLst>
              <a:ext uri="{FF2B5EF4-FFF2-40B4-BE49-F238E27FC236}">
                <a16:creationId xmlns:a16="http://schemas.microsoft.com/office/drawing/2014/main" id="{22806183-E616-E5D5-E33A-F8E93877051F}"/>
              </a:ext>
            </a:extLst>
          </p:cNvPr>
          <p:cNvPicPr>
            <a:picLocks noChangeAspect="1"/>
          </p:cNvPicPr>
          <p:nvPr/>
        </p:nvPicPr>
        <p:blipFill>
          <a:blip r:embed="rId4"/>
          <a:srcRect/>
          <a:stretch/>
        </p:blipFill>
        <p:spPr>
          <a:xfrm>
            <a:off x="4247535" y="3511543"/>
            <a:ext cx="7300937" cy="3246160"/>
          </a:xfrm>
          <a:prstGeom prst="rect">
            <a:avLst/>
          </a:prstGeom>
        </p:spPr>
      </p:pic>
    </p:spTree>
    <p:extLst>
      <p:ext uri="{BB962C8B-B14F-4D97-AF65-F5344CB8AC3E}">
        <p14:creationId xmlns:p14="http://schemas.microsoft.com/office/powerpoint/2010/main" val="3609419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9C4C9-8350-74F1-87D0-45F882FB82E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C137DB6-A7EB-ECA8-93FD-F02ED0547956}"/>
              </a:ext>
            </a:extLst>
          </p:cNvPr>
          <p:cNvSpPr>
            <a:spLocks noGrp="1"/>
          </p:cNvSpPr>
          <p:nvPr>
            <p:ph type="title"/>
          </p:nvPr>
        </p:nvSpPr>
        <p:spPr>
          <a:xfrm>
            <a:off x="633695" y="581815"/>
            <a:ext cx="3126656" cy="1217487"/>
          </a:xfrm>
        </p:spPr>
        <p:txBody>
          <a:bodyPr rtlCol="0">
            <a:normAutofit/>
          </a:bodyPr>
          <a:lstStyle/>
          <a:p>
            <a:pPr rtl="0"/>
            <a:r>
              <a:rPr lang="tr-TR" sz="3200" b="1" noProof="1"/>
              <a:t>LİNEAR-SVM</a:t>
            </a:r>
            <a:endParaRPr lang="tr-TR" sz="3200" b="1" dirty="0"/>
          </a:p>
        </p:txBody>
      </p:sp>
      <p:pic>
        <p:nvPicPr>
          <p:cNvPr id="8" name="Resim 7">
            <a:extLst>
              <a:ext uri="{FF2B5EF4-FFF2-40B4-BE49-F238E27FC236}">
                <a16:creationId xmlns:a16="http://schemas.microsoft.com/office/drawing/2014/main" id="{15B7A2E7-36EC-DCD3-E8F3-A0A1A55F7277}"/>
              </a:ext>
            </a:extLst>
          </p:cNvPr>
          <p:cNvPicPr>
            <a:picLocks noChangeAspect="1"/>
          </p:cNvPicPr>
          <p:nvPr/>
        </p:nvPicPr>
        <p:blipFill>
          <a:blip r:embed="rId3"/>
          <a:srcRect/>
          <a:stretch/>
        </p:blipFill>
        <p:spPr>
          <a:xfrm>
            <a:off x="4336026" y="3511543"/>
            <a:ext cx="7212446" cy="3246160"/>
          </a:xfrm>
          <a:prstGeom prst="rect">
            <a:avLst/>
          </a:prstGeom>
        </p:spPr>
      </p:pic>
      <p:pic>
        <p:nvPicPr>
          <p:cNvPr id="5" name="Resim 4">
            <a:extLst>
              <a:ext uri="{FF2B5EF4-FFF2-40B4-BE49-F238E27FC236}">
                <a16:creationId xmlns:a16="http://schemas.microsoft.com/office/drawing/2014/main" id="{5797C398-7EBA-A496-D744-7DC973FF6BF0}"/>
              </a:ext>
            </a:extLst>
          </p:cNvPr>
          <p:cNvPicPr>
            <a:picLocks noChangeAspect="1"/>
          </p:cNvPicPr>
          <p:nvPr/>
        </p:nvPicPr>
        <p:blipFill>
          <a:blip r:embed="rId4"/>
          <a:stretch>
            <a:fillRect/>
          </a:stretch>
        </p:blipFill>
        <p:spPr>
          <a:xfrm>
            <a:off x="5751871" y="283558"/>
            <a:ext cx="5796601" cy="3227985"/>
          </a:xfrm>
          <a:prstGeom prst="rect">
            <a:avLst/>
          </a:prstGeom>
        </p:spPr>
      </p:pic>
    </p:spTree>
    <p:extLst>
      <p:ext uri="{BB962C8B-B14F-4D97-AF65-F5344CB8AC3E}">
        <p14:creationId xmlns:p14="http://schemas.microsoft.com/office/powerpoint/2010/main" val="3469426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34EB0-30A9-C69E-BC9C-5ADE62D9C62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8D26B86-9429-DFF3-29C0-CA926DFEEB93}"/>
              </a:ext>
            </a:extLst>
          </p:cNvPr>
          <p:cNvSpPr>
            <a:spLocks noGrp="1"/>
          </p:cNvSpPr>
          <p:nvPr>
            <p:ph type="title"/>
          </p:nvPr>
        </p:nvSpPr>
        <p:spPr>
          <a:xfrm>
            <a:off x="633695" y="581815"/>
            <a:ext cx="3126656" cy="1217487"/>
          </a:xfrm>
        </p:spPr>
        <p:txBody>
          <a:bodyPr rtlCol="0">
            <a:normAutofit/>
          </a:bodyPr>
          <a:lstStyle/>
          <a:p>
            <a:pPr rtl="0"/>
            <a:r>
              <a:rPr lang="tr-TR" sz="3200" b="1" noProof="1"/>
              <a:t>RBF-SVM</a:t>
            </a:r>
            <a:endParaRPr lang="tr-TR" sz="3200" b="1" dirty="0"/>
          </a:p>
        </p:txBody>
      </p:sp>
      <p:pic>
        <p:nvPicPr>
          <p:cNvPr id="8" name="Resim 7">
            <a:extLst>
              <a:ext uri="{FF2B5EF4-FFF2-40B4-BE49-F238E27FC236}">
                <a16:creationId xmlns:a16="http://schemas.microsoft.com/office/drawing/2014/main" id="{04DE69A1-8A14-F91D-14CD-686B92D9B69F}"/>
              </a:ext>
            </a:extLst>
          </p:cNvPr>
          <p:cNvPicPr>
            <a:picLocks noChangeAspect="1"/>
          </p:cNvPicPr>
          <p:nvPr/>
        </p:nvPicPr>
        <p:blipFill>
          <a:blip r:embed="rId3"/>
          <a:srcRect/>
          <a:stretch/>
        </p:blipFill>
        <p:spPr>
          <a:xfrm>
            <a:off x="4336026" y="3511543"/>
            <a:ext cx="7212446" cy="3246160"/>
          </a:xfrm>
          <a:prstGeom prst="rect">
            <a:avLst/>
          </a:prstGeom>
        </p:spPr>
      </p:pic>
      <p:pic>
        <p:nvPicPr>
          <p:cNvPr id="4" name="Resim 3" descr="metin, diyagram, ekran görüntüsü, çizim içeren bir resim&#10;&#10;Yapay zeka tarafından oluşturulan içerik yanlış olabilir.">
            <a:extLst>
              <a:ext uri="{FF2B5EF4-FFF2-40B4-BE49-F238E27FC236}">
                <a16:creationId xmlns:a16="http://schemas.microsoft.com/office/drawing/2014/main" id="{17ABB55F-7BDC-A405-356D-22EC5021CCE3}"/>
              </a:ext>
            </a:extLst>
          </p:cNvPr>
          <p:cNvPicPr>
            <a:picLocks noChangeAspect="1"/>
          </p:cNvPicPr>
          <p:nvPr/>
        </p:nvPicPr>
        <p:blipFill>
          <a:blip r:embed="rId4"/>
          <a:stretch>
            <a:fillRect/>
          </a:stretch>
        </p:blipFill>
        <p:spPr>
          <a:xfrm>
            <a:off x="5565059" y="300420"/>
            <a:ext cx="5983414" cy="3128580"/>
          </a:xfrm>
          <a:prstGeom prst="rect">
            <a:avLst/>
          </a:prstGeom>
        </p:spPr>
      </p:pic>
    </p:spTree>
    <p:extLst>
      <p:ext uri="{BB962C8B-B14F-4D97-AF65-F5344CB8AC3E}">
        <p14:creationId xmlns:p14="http://schemas.microsoft.com/office/powerpoint/2010/main" val="3019266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5B89-9014-3794-F994-E5378EAFC5C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7AFDFC45-D93A-8FAD-4F2D-A706BD5AE987}"/>
              </a:ext>
            </a:extLst>
          </p:cNvPr>
          <p:cNvSpPr>
            <a:spLocks noGrp="1"/>
          </p:cNvSpPr>
          <p:nvPr>
            <p:ph type="title"/>
          </p:nvPr>
        </p:nvSpPr>
        <p:spPr>
          <a:xfrm>
            <a:off x="633694" y="581815"/>
            <a:ext cx="3574511" cy="1482959"/>
          </a:xfrm>
        </p:spPr>
        <p:txBody>
          <a:bodyPr rtlCol="0">
            <a:normAutofit/>
          </a:bodyPr>
          <a:lstStyle/>
          <a:p>
            <a:pPr rtl="0"/>
            <a:r>
              <a:rPr lang="tr-TR" sz="3200" b="1" noProof="1"/>
              <a:t>MULTİNOMİAL NAİVE BAYES</a:t>
            </a:r>
            <a:endParaRPr lang="tr-TR" sz="3200" b="1" dirty="0"/>
          </a:p>
        </p:txBody>
      </p:sp>
      <p:pic>
        <p:nvPicPr>
          <p:cNvPr id="8" name="Resim 7">
            <a:extLst>
              <a:ext uri="{FF2B5EF4-FFF2-40B4-BE49-F238E27FC236}">
                <a16:creationId xmlns:a16="http://schemas.microsoft.com/office/drawing/2014/main" id="{F425B1DD-3A57-DFBA-1977-77233D17EBBE}"/>
              </a:ext>
            </a:extLst>
          </p:cNvPr>
          <p:cNvPicPr>
            <a:picLocks noChangeAspect="1"/>
          </p:cNvPicPr>
          <p:nvPr/>
        </p:nvPicPr>
        <p:blipFill>
          <a:blip r:embed="rId3"/>
          <a:srcRect/>
          <a:stretch/>
        </p:blipFill>
        <p:spPr>
          <a:xfrm>
            <a:off x="4745251" y="3429000"/>
            <a:ext cx="6803222" cy="3246160"/>
          </a:xfrm>
          <a:prstGeom prst="rect">
            <a:avLst/>
          </a:prstGeom>
        </p:spPr>
      </p:pic>
      <p:pic>
        <p:nvPicPr>
          <p:cNvPr id="5" name="Resim 4" descr="metin, ekran görüntüsü, diyagram, yazı tipi içeren bir resim&#10;&#10;Yapay zeka tarafından oluşturulan içerik yanlış olabilir.">
            <a:extLst>
              <a:ext uri="{FF2B5EF4-FFF2-40B4-BE49-F238E27FC236}">
                <a16:creationId xmlns:a16="http://schemas.microsoft.com/office/drawing/2014/main" id="{4A53D3E4-0214-95DE-0A10-6507B8FE6FE6}"/>
              </a:ext>
            </a:extLst>
          </p:cNvPr>
          <p:cNvPicPr>
            <a:picLocks noChangeAspect="1"/>
          </p:cNvPicPr>
          <p:nvPr/>
        </p:nvPicPr>
        <p:blipFill>
          <a:blip r:embed="rId4"/>
          <a:stretch>
            <a:fillRect/>
          </a:stretch>
        </p:blipFill>
        <p:spPr>
          <a:xfrm>
            <a:off x="5608849" y="182841"/>
            <a:ext cx="5939624" cy="3246159"/>
          </a:xfrm>
          <a:prstGeom prst="rect">
            <a:avLst/>
          </a:prstGeom>
        </p:spPr>
      </p:pic>
    </p:spTree>
    <p:extLst>
      <p:ext uri="{BB962C8B-B14F-4D97-AF65-F5344CB8AC3E}">
        <p14:creationId xmlns:p14="http://schemas.microsoft.com/office/powerpoint/2010/main" val="1590244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40B1-0ADC-EEFB-9797-4D1AA42666A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2203C2C-7EE1-3E56-4C03-04FCB001E9FA}"/>
              </a:ext>
            </a:extLst>
          </p:cNvPr>
          <p:cNvSpPr>
            <a:spLocks noGrp="1"/>
          </p:cNvSpPr>
          <p:nvPr>
            <p:ph type="ctrTitle"/>
          </p:nvPr>
        </p:nvSpPr>
        <p:spPr>
          <a:xfrm>
            <a:off x="6096000" y="1757516"/>
            <a:ext cx="5673213" cy="3342968"/>
          </a:xfrm>
        </p:spPr>
        <p:txBody>
          <a:bodyPr rtlCol="0"/>
          <a:lstStyle/>
          <a:p>
            <a:pPr algn="ctr" rtl="0"/>
            <a:r>
              <a:rPr lang="tr-TR" dirty="0"/>
              <a:t>YAPAY ZEKA MODELLerinin DEĞERlendirilmesi</a:t>
            </a:r>
          </a:p>
        </p:txBody>
      </p:sp>
    </p:spTree>
    <p:extLst>
      <p:ext uri="{BB962C8B-B14F-4D97-AF65-F5344CB8AC3E}">
        <p14:creationId xmlns:p14="http://schemas.microsoft.com/office/powerpoint/2010/main" val="1081348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FAD2AE59-5630-4D5C-83A9-4CDEF4D7DCFB}"/>
              </a:ext>
            </a:extLst>
          </p:cNvPr>
          <p:cNvSpPr>
            <a:spLocks noGrp="1"/>
          </p:cNvSpPr>
          <p:nvPr>
            <p:ph type="title"/>
          </p:nvPr>
        </p:nvSpPr>
        <p:spPr>
          <a:xfrm>
            <a:off x="2379407" y="935761"/>
            <a:ext cx="8857994" cy="563662"/>
          </a:xfrm>
        </p:spPr>
        <p:txBody>
          <a:bodyPr rtlCol="0"/>
          <a:lstStyle/>
          <a:p>
            <a:pPr algn="ctr" rtl="0"/>
            <a:r>
              <a:rPr lang="tr-TR" b="1" dirty="0"/>
              <a:t>Değerlendirme Metrikleri</a:t>
            </a:r>
          </a:p>
        </p:txBody>
      </p:sp>
      <p:sp>
        <p:nvSpPr>
          <p:cNvPr id="6" name="İçerik Yer Tutucusu 5">
            <a:extLst>
              <a:ext uri="{FF2B5EF4-FFF2-40B4-BE49-F238E27FC236}">
                <a16:creationId xmlns:a16="http://schemas.microsoft.com/office/drawing/2014/main" id="{5A6B31B0-7B84-475D-961F-09C0191F91A2}"/>
              </a:ext>
            </a:extLst>
          </p:cNvPr>
          <p:cNvSpPr>
            <a:spLocks noGrp="1"/>
          </p:cNvSpPr>
          <p:nvPr>
            <p:ph sz="half" idx="2"/>
          </p:nvPr>
        </p:nvSpPr>
        <p:spPr>
          <a:xfrm>
            <a:off x="2163097" y="1893249"/>
            <a:ext cx="9074304" cy="633641"/>
          </a:xfrm>
        </p:spPr>
        <p:txBody>
          <a:bodyPr vert="horz" lIns="91440" tIns="45720" rIns="91440" bIns="45720" rtlCol="0" anchor="t">
            <a:normAutofit/>
          </a:bodyPr>
          <a:lstStyle/>
          <a:p>
            <a:pPr rtl="0"/>
            <a:r>
              <a:rPr lang="tr-TR" sz="1600" b="1" noProof="1"/>
              <a:t>LOSS (KAYIP): </a:t>
            </a:r>
            <a:r>
              <a:rPr lang="tr-TR" sz="1500" noProof="1"/>
              <a:t>Modelin tahminlerinin olması gereken değerden ne kadar uzak olduğunu ölçer.</a:t>
            </a:r>
            <a:br>
              <a:rPr lang="tr-TR" sz="1500" noProof="1"/>
            </a:br>
            <a:r>
              <a:rPr lang="tr-TR" sz="1500" noProof="1"/>
              <a:t>Ne kadar düşük Loss değeri varsa o kadar doğru tahminlerde bulunulduğunu gösterir. </a:t>
            </a:r>
          </a:p>
        </p:txBody>
      </p:sp>
      <p:sp>
        <p:nvSpPr>
          <p:cNvPr id="16" name="İçerik Yer Tutucusu 5">
            <a:extLst>
              <a:ext uri="{FF2B5EF4-FFF2-40B4-BE49-F238E27FC236}">
                <a16:creationId xmlns:a16="http://schemas.microsoft.com/office/drawing/2014/main" id="{D819A8CE-E1D1-2625-74BC-B59B02943BF3}"/>
              </a:ext>
            </a:extLst>
          </p:cNvPr>
          <p:cNvSpPr txBox="1">
            <a:spLocks/>
          </p:cNvSpPr>
          <p:nvPr/>
        </p:nvSpPr>
        <p:spPr>
          <a:xfrm>
            <a:off x="2163097" y="2611005"/>
            <a:ext cx="9074304" cy="63364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ACCURACY (DOĞRULUK): </a:t>
            </a:r>
            <a:r>
              <a:rPr lang="tr-TR" sz="1500" noProof="1"/>
              <a:t>Modelin genel doğruluğunu ölçer. Modelin doğru tahmin ettiği örneklerin toplam örneklere oranını ifade eder. </a:t>
            </a:r>
            <a:r>
              <a:rPr lang="tr-TR" sz="1500" b="1" i="1" dirty="0">
                <a:effectLst/>
                <a:latin typeface="Aptos" panose="020B0004020202020204" pitchFamily="34" charset="0"/>
                <a:ea typeface="Aptos" panose="020B0004020202020204" pitchFamily="34" charset="0"/>
                <a:cs typeface="Times New Roman" panose="02020603050405020304" pitchFamily="18" charset="0"/>
              </a:rPr>
              <a:t>“Accuracy = (TP + TN) / (TP + TN + FP + FN)”</a:t>
            </a:r>
            <a:endParaRPr lang="tr-TR" sz="1500" noProof="1"/>
          </a:p>
        </p:txBody>
      </p:sp>
      <p:sp>
        <p:nvSpPr>
          <p:cNvPr id="17" name="İçerik Yer Tutucusu 5">
            <a:extLst>
              <a:ext uri="{FF2B5EF4-FFF2-40B4-BE49-F238E27FC236}">
                <a16:creationId xmlns:a16="http://schemas.microsoft.com/office/drawing/2014/main" id="{7BAEA272-8B0C-D7DD-1894-7A6221CDA7E8}"/>
              </a:ext>
            </a:extLst>
          </p:cNvPr>
          <p:cNvSpPr txBox="1">
            <a:spLocks/>
          </p:cNvSpPr>
          <p:nvPr/>
        </p:nvSpPr>
        <p:spPr>
          <a:xfrm>
            <a:off x="2163097" y="3328762"/>
            <a:ext cx="9074304" cy="3583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TEST LOSS ve ACCURACY: </a:t>
            </a:r>
            <a:r>
              <a:rPr lang="tr-TR" sz="1500" noProof="1"/>
              <a:t>Modelin test veri seti üzerindeki performansını ölçerler. </a:t>
            </a:r>
          </a:p>
        </p:txBody>
      </p:sp>
      <p:sp>
        <p:nvSpPr>
          <p:cNvPr id="18" name="İçerik Yer Tutucusu 5">
            <a:extLst>
              <a:ext uri="{FF2B5EF4-FFF2-40B4-BE49-F238E27FC236}">
                <a16:creationId xmlns:a16="http://schemas.microsoft.com/office/drawing/2014/main" id="{5D381D65-8A2A-129D-5310-DFD8843436DE}"/>
              </a:ext>
            </a:extLst>
          </p:cNvPr>
          <p:cNvSpPr txBox="1">
            <a:spLocks/>
          </p:cNvSpPr>
          <p:nvPr/>
        </p:nvSpPr>
        <p:spPr>
          <a:xfrm>
            <a:off x="2163097" y="3771212"/>
            <a:ext cx="9074304" cy="70246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VALİDATİON LOSS ve ACCURACY: </a:t>
            </a:r>
            <a:r>
              <a:rPr lang="tr-TR" sz="1500" noProof="1"/>
              <a:t>Modelin doğrulama veri seti üzerindeki performansını ölçerler. </a:t>
            </a:r>
          </a:p>
        </p:txBody>
      </p:sp>
      <p:sp>
        <p:nvSpPr>
          <p:cNvPr id="19" name="İçerik Yer Tutucusu 5">
            <a:extLst>
              <a:ext uri="{FF2B5EF4-FFF2-40B4-BE49-F238E27FC236}">
                <a16:creationId xmlns:a16="http://schemas.microsoft.com/office/drawing/2014/main" id="{BA3CE277-3BB3-6448-F95A-9830E510B72B}"/>
              </a:ext>
            </a:extLst>
          </p:cNvPr>
          <p:cNvSpPr txBox="1">
            <a:spLocks/>
          </p:cNvSpPr>
          <p:nvPr/>
        </p:nvSpPr>
        <p:spPr>
          <a:xfrm>
            <a:off x="2163097" y="4557792"/>
            <a:ext cx="9074304" cy="358335"/>
          </a:xfrm>
          <a:prstGeom prst="rect">
            <a:avLst/>
          </a:prstGeom>
        </p:spPr>
        <p:txBody>
          <a:bodyPr vert="horz" lIns="91440" tIns="45720" rIns="91440" bIns="45720" rtlCol="0" anchor="t">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1600" b="1" noProof="1"/>
              <a:t>PRECİSİON (KESİNLİK): </a:t>
            </a:r>
            <a:r>
              <a:rPr lang="tr-TR" sz="1500" noProof="1"/>
              <a:t>Modelin kararlarının ne kadar doğru olduğunu ölçer.</a:t>
            </a:r>
            <a:r>
              <a:rPr lang="tr-TR" sz="1600" b="1" i="1" dirty="0">
                <a:effectLst/>
                <a:latin typeface="Aptos" panose="020B0004020202020204" pitchFamily="34" charset="0"/>
                <a:ea typeface="Aptos" panose="020B0004020202020204" pitchFamily="34" charset="0"/>
                <a:cs typeface="Times New Roman" panose="02020603050405020304" pitchFamily="18" charset="0"/>
              </a:rPr>
              <a:t> “Prc = TP / TP + FP”</a:t>
            </a:r>
            <a:r>
              <a:rPr lang="tr-TR" sz="1500" noProof="1"/>
              <a:t> </a:t>
            </a:r>
          </a:p>
        </p:txBody>
      </p:sp>
      <p:sp>
        <p:nvSpPr>
          <p:cNvPr id="20" name="İçerik Yer Tutucusu 5">
            <a:extLst>
              <a:ext uri="{FF2B5EF4-FFF2-40B4-BE49-F238E27FC236}">
                <a16:creationId xmlns:a16="http://schemas.microsoft.com/office/drawing/2014/main" id="{ED696512-3A09-B89F-582A-590C9BADAE45}"/>
              </a:ext>
            </a:extLst>
          </p:cNvPr>
          <p:cNvSpPr txBox="1">
            <a:spLocks/>
          </p:cNvSpPr>
          <p:nvPr/>
        </p:nvSpPr>
        <p:spPr>
          <a:xfrm>
            <a:off x="2163097" y="5000242"/>
            <a:ext cx="9074304" cy="442450"/>
          </a:xfrm>
          <a:prstGeom prst="rect">
            <a:avLst/>
          </a:prstGeom>
        </p:spPr>
        <p:txBody>
          <a:bodyPr vert="horz" lIns="91440" tIns="45720" rIns="91440" bIns="45720" rtlCol="0" anchor="t">
            <a:normAutofit fontScale="92500"/>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6000"/>
              </a:lnSpc>
              <a:spcAft>
                <a:spcPts val="800"/>
              </a:spcAft>
            </a:pPr>
            <a:r>
              <a:rPr lang="tr-TR" sz="1600" b="1" noProof="1"/>
              <a:t>RECALL (DUYARLILIK): </a:t>
            </a:r>
            <a:r>
              <a:rPr lang="tr-TR" sz="1500" noProof="1"/>
              <a:t>Modelin doğru kararlarının ne kadar doğru olduğunu ölçer. </a:t>
            </a:r>
            <a:r>
              <a:rPr lang="tr-TR" sz="1600" b="1" i="1" kern="100" dirty="0">
                <a:effectLst/>
                <a:latin typeface="Aptos" panose="020B0004020202020204" pitchFamily="34" charset="0"/>
                <a:ea typeface="Aptos" panose="020B0004020202020204" pitchFamily="34" charset="0"/>
                <a:cs typeface="Times New Roman" panose="02020603050405020304" pitchFamily="18" charset="0"/>
              </a:rPr>
              <a:t>“R=TP/TP+FN”</a:t>
            </a:r>
            <a:r>
              <a:rPr lang="tr-TR" sz="1500" noProof="1"/>
              <a:t> </a:t>
            </a:r>
          </a:p>
        </p:txBody>
      </p:sp>
      <p:sp>
        <p:nvSpPr>
          <p:cNvPr id="21" name="İçerik Yer Tutucusu 5">
            <a:extLst>
              <a:ext uri="{FF2B5EF4-FFF2-40B4-BE49-F238E27FC236}">
                <a16:creationId xmlns:a16="http://schemas.microsoft.com/office/drawing/2014/main" id="{618BC0D7-A588-D000-31FD-575A9117F277}"/>
              </a:ext>
            </a:extLst>
          </p:cNvPr>
          <p:cNvSpPr txBox="1">
            <a:spLocks/>
          </p:cNvSpPr>
          <p:nvPr/>
        </p:nvSpPr>
        <p:spPr>
          <a:xfrm>
            <a:off x="2163097" y="5442692"/>
            <a:ext cx="9074304" cy="358335"/>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400" kern="1200" spc="50" baseline="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6000"/>
              </a:lnSpc>
              <a:spcAft>
                <a:spcPts val="800"/>
              </a:spcAft>
            </a:pPr>
            <a:r>
              <a:rPr lang="tr-TR" sz="1600" b="1" noProof="1"/>
              <a:t>F1-SKORU: </a:t>
            </a:r>
            <a:r>
              <a:rPr lang="tr-TR" sz="1500" noProof="1"/>
              <a:t>Precision ve Recall değerlerinin ortalamasını ölçer.</a:t>
            </a:r>
            <a:r>
              <a:rPr lang="tr-TR" sz="1600" b="1" i="1" kern="100" dirty="0">
                <a:effectLst/>
                <a:latin typeface="Aptos" panose="020B0004020202020204" pitchFamily="34" charset="0"/>
                <a:ea typeface="Aptos" panose="020B0004020202020204" pitchFamily="34" charset="0"/>
                <a:cs typeface="Times New Roman" panose="02020603050405020304" pitchFamily="18" charset="0"/>
              </a:rPr>
              <a:t> </a:t>
            </a:r>
            <a:r>
              <a:rPr lang="tr-TR" sz="1500" b="1" i="1" kern="100" dirty="0">
                <a:effectLst/>
                <a:latin typeface="Aptos" panose="020B0004020202020204" pitchFamily="34" charset="0"/>
                <a:ea typeface="Aptos" panose="020B0004020202020204" pitchFamily="34" charset="0"/>
                <a:cs typeface="Times New Roman" panose="02020603050405020304" pitchFamily="18" charset="0"/>
              </a:rPr>
              <a:t>“F1 = 2 x [(Prc x R) / (Prc + R)]”</a:t>
            </a:r>
            <a:endParaRPr lang="tr-TR" sz="15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57409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971188AF-1B8F-40DD-90B1-DC0F52BA46BA}"/>
              </a:ext>
            </a:extLst>
          </p:cNvPr>
          <p:cNvSpPr>
            <a:spLocks noGrp="1"/>
          </p:cNvSpPr>
          <p:nvPr>
            <p:ph type="title"/>
          </p:nvPr>
        </p:nvSpPr>
        <p:spPr>
          <a:xfrm>
            <a:off x="838200" y="369939"/>
            <a:ext cx="10515600" cy="576943"/>
          </a:xfrm>
        </p:spPr>
        <p:txBody>
          <a:bodyPr lIns="0" rtlCol="0"/>
          <a:lstStyle/>
          <a:p>
            <a:pPr algn="ctr" rtl="0"/>
            <a:r>
              <a:rPr lang="tr-TR" b="1" dirty="0"/>
              <a:t>LOGİSTİC REGRESSİON</a:t>
            </a:r>
          </a:p>
        </p:txBody>
      </p:sp>
      <p:cxnSp>
        <p:nvCxnSpPr>
          <p:cNvPr id="10" name="Düz Bağlayıcı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Resim 7" descr="metin, ekran görüntüsü, diyagram, dikdörtgen içeren bir resim&#10;&#10;Yapay zeka tarafından oluşturulan içerik yanlış olabilir.">
            <a:extLst>
              <a:ext uri="{FF2B5EF4-FFF2-40B4-BE49-F238E27FC236}">
                <a16:creationId xmlns:a16="http://schemas.microsoft.com/office/drawing/2014/main" id="{B516B81F-D33D-9D4E-A6CE-C77164947D94}"/>
              </a:ext>
            </a:extLst>
          </p:cNvPr>
          <p:cNvPicPr>
            <a:picLocks noChangeAspect="1"/>
          </p:cNvPicPr>
          <p:nvPr/>
        </p:nvPicPr>
        <p:blipFill>
          <a:blip r:embed="rId3"/>
          <a:stretch>
            <a:fillRect/>
          </a:stretch>
        </p:blipFill>
        <p:spPr>
          <a:xfrm>
            <a:off x="721681" y="1630077"/>
            <a:ext cx="5781043" cy="4335782"/>
          </a:xfrm>
          <a:prstGeom prst="rect">
            <a:avLst/>
          </a:prstGeom>
        </p:spPr>
      </p:pic>
      <p:pic>
        <p:nvPicPr>
          <p:cNvPr id="11" name="Resim 10" descr="metin, çizgi, öykü gelişim çizgisi; kumpas; grafiğini çıkarma, diyagram içeren bir resim&#10;&#10;Yapay zeka tarafından oluşturulan içerik yanlış olabilir.">
            <a:extLst>
              <a:ext uri="{FF2B5EF4-FFF2-40B4-BE49-F238E27FC236}">
                <a16:creationId xmlns:a16="http://schemas.microsoft.com/office/drawing/2014/main" id="{EA127D69-1F07-2D6E-74B4-EC9DC0A82CCC}"/>
              </a:ext>
            </a:extLst>
          </p:cNvPr>
          <p:cNvPicPr>
            <a:picLocks noChangeAspect="1"/>
          </p:cNvPicPr>
          <p:nvPr/>
        </p:nvPicPr>
        <p:blipFill>
          <a:blip r:embed="rId4"/>
          <a:stretch>
            <a:fillRect/>
          </a:stretch>
        </p:blipFill>
        <p:spPr>
          <a:xfrm>
            <a:off x="6874850" y="1042474"/>
            <a:ext cx="4133241" cy="2755494"/>
          </a:xfrm>
          <a:prstGeom prst="rect">
            <a:avLst/>
          </a:prstGeom>
        </p:spPr>
      </p:pic>
      <p:pic>
        <p:nvPicPr>
          <p:cNvPr id="14" name="Resim 13" descr="metin, ekran görüntüsü, yazı tipi içeren bir resim&#10;&#10;Yapay zeka tarafından oluşturulan içerik yanlış olabilir.">
            <a:extLst>
              <a:ext uri="{FF2B5EF4-FFF2-40B4-BE49-F238E27FC236}">
                <a16:creationId xmlns:a16="http://schemas.microsoft.com/office/drawing/2014/main" id="{E0D8DC8F-351E-736C-6865-0898699BC59C}"/>
              </a:ext>
            </a:extLst>
          </p:cNvPr>
          <p:cNvPicPr>
            <a:picLocks noChangeAspect="1"/>
          </p:cNvPicPr>
          <p:nvPr/>
        </p:nvPicPr>
        <p:blipFill>
          <a:blip r:embed="rId5"/>
          <a:stretch>
            <a:fillRect/>
          </a:stretch>
        </p:blipFill>
        <p:spPr>
          <a:xfrm>
            <a:off x="6874850" y="3893560"/>
            <a:ext cx="4133241" cy="2755494"/>
          </a:xfrm>
          <a:prstGeom prst="rect">
            <a:avLst/>
          </a:prstGeom>
        </p:spPr>
      </p:pic>
    </p:spTree>
    <p:extLst>
      <p:ext uri="{BB962C8B-B14F-4D97-AF65-F5344CB8AC3E}">
        <p14:creationId xmlns:p14="http://schemas.microsoft.com/office/powerpoint/2010/main" val="460935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Başlık 7">
            <a:extLst>
              <a:ext uri="{FF2B5EF4-FFF2-40B4-BE49-F238E27FC236}">
                <a16:creationId xmlns:a16="http://schemas.microsoft.com/office/drawing/2014/main" id="{46B1B183-4CD6-741B-F454-A46A81F89E47}"/>
              </a:ext>
            </a:extLst>
          </p:cNvPr>
          <p:cNvSpPr>
            <a:spLocks noGrp="1"/>
          </p:cNvSpPr>
          <p:nvPr>
            <p:ph type="title"/>
          </p:nvPr>
        </p:nvSpPr>
        <p:spPr>
          <a:xfrm>
            <a:off x="838200" y="365126"/>
            <a:ext cx="10515600" cy="578771"/>
          </a:xfrm>
        </p:spPr>
        <p:txBody>
          <a:bodyPr/>
          <a:lstStyle/>
          <a:p>
            <a:r>
              <a:rPr lang="tr-TR" b="1" dirty="0"/>
              <a:t>Random Forest</a:t>
            </a:r>
          </a:p>
        </p:txBody>
      </p:sp>
      <p:pic>
        <p:nvPicPr>
          <p:cNvPr id="4" name="Resim 3">
            <a:extLst>
              <a:ext uri="{FF2B5EF4-FFF2-40B4-BE49-F238E27FC236}">
                <a16:creationId xmlns:a16="http://schemas.microsoft.com/office/drawing/2014/main" id="{E30537E8-8A72-3D80-B9B0-1280AF3995A3}"/>
              </a:ext>
            </a:extLst>
          </p:cNvPr>
          <p:cNvPicPr>
            <a:picLocks noChangeAspect="1"/>
          </p:cNvPicPr>
          <p:nvPr/>
        </p:nvPicPr>
        <p:blipFill>
          <a:blip r:embed="rId3"/>
          <a:srcRect/>
          <a:stretch/>
        </p:blipFill>
        <p:spPr>
          <a:xfrm>
            <a:off x="721681" y="1630077"/>
            <a:ext cx="5781042" cy="4335782"/>
          </a:xfrm>
          <a:prstGeom prst="rect">
            <a:avLst/>
          </a:prstGeom>
        </p:spPr>
      </p:pic>
      <p:pic>
        <p:nvPicPr>
          <p:cNvPr id="5" name="Resim 4">
            <a:extLst>
              <a:ext uri="{FF2B5EF4-FFF2-40B4-BE49-F238E27FC236}">
                <a16:creationId xmlns:a16="http://schemas.microsoft.com/office/drawing/2014/main" id="{DE04BA19-A190-4333-02F7-C5268A3E8AD1}"/>
              </a:ext>
            </a:extLst>
          </p:cNvPr>
          <p:cNvPicPr>
            <a:picLocks noChangeAspect="1"/>
          </p:cNvPicPr>
          <p:nvPr/>
        </p:nvPicPr>
        <p:blipFill>
          <a:blip r:embed="rId4"/>
          <a:srcRect/>
          <a:stretch/>
        </p:blipFill>
        <p:spPr>
          <a:xfrm>
            <a:off x="6874850" y="1042474"/>
            <a:ext cx="4133241" cy="2755493"/>
          </a:xfrm>
          <a:prstGeom prst="rect">
            <a:avLst/>
          </a:prstGeom>
        </p:spPr>
      </p:pic>
      <p:pic>
        <p:nvPicPr>
          <p:cNvPr id="6" name="Resim 5">
            <a:extLst>
              <a:ext uri="{FF2B5EF4-FFF2-40B4-BE49-F238E27FC236}">
                <a16:creationId xmlns:a16="http://schemas.microsoft.com/office/drawing/2014/main" id="{2313F9F7-E10E-7970-319E-8B9837AB3C0E}"/>
              </a:ext>
            </a:extLst>
          </p:cNvPr>
          <p:cNvPicPr>
            <a:picLocks noChangeAspect="1"/>
          </p:cNvPicPr>
          <p:nvPr/>
        </p:nvPicPr>
        <p:blipFill>
          <a:blip r:embed="rId5"/>
          <a:srcRect/>
          <a:stretch/>
        </p:blipFill>
        <p:spPr>
          <a:xfrm>
            <a:off x="6874850" y="3896544"/>
            <a:ext cx="4133241" cy="2740230"/>
          </a:xfrm>
          <a:prstGeom prst="rect">
            <a:avLst/>
          </a:prstGeom>
        </p:spPr>
      </p:pic>
    </p:spTree>
    <p:extLst>
      <p:ext uri="{BB962C8B-B14F-4D97-AF65-F5344CB8AC3E}">
        <p14:creationId xmlns:p14="http://schemas.microsoft.com/office/powerpoint/2010/main" val="566997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728B8-D8EF-7C44-7641-B81D1B020FC6}"/>
            </a:ext>
          </a:extLst>
        </p:cNvPr>
        <p:cNvGrpSpPr/>
        <p:nvPr/>
      </p:nvGrpSpPr>
      <p:grpSpPr>
        <a:xfrm>
          <a:off x="0" y="0"/>
          <a:ext cx="0" cy="0"/>
          <a:chOff x="0" y="0"/>
          <a:chExt cx="0" cy="0"/>
        </a:xfrm>
      </p:grpSpPr>
      <p:sp>
        <p:nvSpPr>
          <p:cNvPr id="4" name="Başlık 3">
            <a:extLst>
              <a:ext uri="{FF2B5EF4-FFF2-40B4-BE49-F238E27FC236}">
                <a16:creationId xmlns:a16="http://schemas.microsoft.com/office/drawing/2014/main" id="{CCB8B0DB-AB07-475F-B224-B894A63A7A45}"/>
              </a:ext>
            </a:extLst>
          </p:cNvPr>
          <p:cNvSpPr>
            <a:spLocks noGrp="1"/>
          </p:cNvSpPr>
          <p:nvPr>
            <p:ph type="title"/>
          </p:nvPr>
        </p:nvSpPr>
        <p:spPr>
          <a:xfrm>
            <a:off x="838200" y="369939"/>
            <a:ext cx="10515600" cy="576943"/>
          </a:xfrm>
        </p:spPr>
        <p:txBody>
          <a:bodyPr lIns="0" rtlCol="0"/>
          <a:lstStyle/>
          <a:p>
            <a:pPr algn="ctr" rtl="0"/>
            <a:r>
              <a:rPr lang="tr-TR" sz="2800" b="1" noProof="1"/>
              <a:t>LİNEAR-SVM</a:t>
            </a:r>
            <a:endParaRPr lang="tr-TR" b="1" dirty="0"/>
          </a:p>
        </p:txBody>
      </p:sp>
      <p:cxnSp>
        <p:nvCxnSpPr>
          <p:cNvPr id="10" name="Düz Bağlayıcı 9">
            <a:extLst>
              <a:ext uri="{FF2B5EF4-FFF2-40B4-BE49-F238E27FC236}">
                <a16:creationId xmlns:a16="http://schemas.microsoft.com/office/drawing/2014/main" id="{298BAFA1-08BE-6B93-80C4-3282284A082A}"/>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F2F4E905-6295-27B5-E3D5-E369C7B0C804}"/>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Resim 7">
            <a:extLst>
              <a:ext uri="{FF2B5EF4-FFF2-40B4-BE49-F238E27FC236}">
                <a16:creationId xmlns:a16="http://schemas.microsoft.com/office/drawing/2014/main" id="{CF20BF58-E4E7-89DF-C7E8-79FBAD0A081A}"/>
              </a:ext>
            </a:extLst>
          </p:cNvPr>
          <p:cNvPicPr>
            <a:picLocks noChangeAspect="1"/>
          </p:cNvPicPr>
          <p:nvPr/>
        </p:nvPicPr>
        <p:blipFill>
          <a:blip r:embed="rId3"/>
          <a:srcRect/>
          <a:stretch/>
        </p:blipFill>
        <p:spPr>
          <a:xfrm>
            <a:off x="721681" y="1630077"/>
            <a:ext cx="5781042" cy="4335782"/>
          </a:xfrm>
          <a:prstGeom prst="rect">
            <a:avLst/>
          </a:prstGeom>
        </p:spPr>
      </p:pic>
      <p:pic>
        <p:nvPicPr>
          <p:cNvPr id="11" name="Resim 10">
            <a:extLst>
              <a:ext uri="{FF2B5EF4-FFF2-40B4-BE49-F238E27FC236}">
                <a16:creationId xmlns:a16="http://schemas.microsoft.com/office/drawing/2014/main" id="{D5ECE460-0B66-89E5-682A-4E382C87108D}"/>
              </a:ext>
            </a:extLst>
          </p:cNvPr>
          <p:cNvPicPr>
            <a:picLocks noChangeAspect="1"/>
          </p:cNvPicPr>
          <p:nvPr/>
        </p:nvPicPr>
        <p:blipFill>
          <a:blip r:embed="rId4"/>
          <a:srcRect/>
          <a:stretch/>
        </p:blipFill>
        <p:spPr>
          <a:xfrm>
            <a:off x="6874850" y="1042474"/>
            <a:ext cx="4133241" cy="2755493"/>
          </a:xfrm>
          <a:prstGeom prst="rect">
            <a:avLst/>
          </a:prstGeom>
        </p:spPr>
      </p:pic>
      <p:pic>
        <p:nvPicPr>
          <p:cNvPr id="14" name="Resim 13">
            <a:extLst>
              <a:ext uri="{FF2B5EF4-FFF2-40B4-BE49-F238E27FC236}">
                <a16:creationId xmlns:a16="http://schemas.microsoft.com/office/drawing/2014/main" id="{7CBD60CE-39D1-E8E8-C842-7A5B60D020E6}"/>
              </a:ext>
            </a:extLst>
          </p:cNvPr>
          <p:cNvPicPr>
            <a:picLocks noChangeAspect="1"/>
          </p:cNvPicPr>
          <p:nvPr/>
        </p:nvPicPr>
        <p:blipFill>
          <a:blip r:embed="rId5"/>
          <a:srcRect/>
          <a:stretch/>
        </p:blipFill>
        <p:spPr>
          <a:xfrm>
            <a:off x="6874850" y="3902607"/>
            <a:ext cx="4133241" cy="2737399"/>
          </a:xfrm>
          <a:prstGeom prst="rect">
            <a:avLst/>
          </a:prstGeom>
        </p:spPr>
      </p:pic>
    </p:spTree>
    <p:extLst>
      <p:ext uri="{BB962C8B-B14F-4D97-AF65-F5344CB8AC3E}">
        <p14:creationId xmlns:p14="http://schemas.microsoft.com/office/powerpoint/2010/main" val="74137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4E4C3-B9ED-C569-EDF8-DCF904E69F74}"/>
            </a:ext>
          </a:extLst>
        </p:cNvPr>
        <p:cNvGrpSpPr/>
        <p:nvPr/>
      </p:nvGrpSpPr>
      <p:grpSpPr>
        <a:xfrm>
          <a:off x="0" y="0"/>
          <a:ext cx="0" cy="0"/>
          <a:chOff x="0" y="0"/>
          <a:chExt cx="0" cy="0"/>
        </a:xfrm>
      </p:grpSpPr>
      <p:sp>
        <p:nvSpPr>
          <p:cNvPr id="8" name="Başlık 7">
            <a:extLst>
              <a:ext uri="{FF2B5EF4-FFF2-40B4-BE49-F238E27FC236}">
                <a16:creationId xmlns:a16="http://schemas.microsoft.com/office/drawing/2014/main" id="{9979D7D9-E0E4-EB16-4EF2-25C8DB622E26}"/>
              </a:ext>
            </a:extLst>
          </p:cNvPr>
          <p:cNvSpPr>
            <a:spLocks noGrp="1"/>
          </p:cNvSpPr>
          <p:nvPr>
            <p:ph type="title"/>
          </p:nvPr>
        </p:nvSpPr>
        <p:spPr>
          <a:xfrm>
            <a:off x="838200" y="365126"/>
            <a:ext cx="10515600" cy="578771"/>
          </a:xfrm>
        </p:spPr>
        <p:txBody>
          <a:bodyPr/>
          <a:lstStyle/>
          <a:p>
            <a:r>
              <a:rPr lang="tr-TR" sz="2800" b="1" noProof="1"/>
              <a:t>RBF-SVM</a:t>
            </a:r>
            <a:endParaRPr lang="tr-TR" b="1" dirty="0"/>
          </a:p>
        </p:txBody>
      </p:sp>
      <p:pic>
        <p:nvPicPr>
          <p:cNvPr id="4" name="Resim 3">
            <a:extLst>
              <a:ext uri="{FF2B5EF4-FFF2-40B4-BE49-F238E27FC236}">
                <a16:creationId xmlns:a16="http://schemas.microsoft.com/office/drawing/2014/main" id="{A753A9FC-C3DA-2684-354F-9852961C8DCD}"/>
              </a:ext>
            </a:extLst>
          </p:cNvPr>
          <p:cNvPicPr>
            <a:picLocks noChangeAspect="1"/>
          </p:cNvPicPr>
          <p:nvPr/>
        </p:nvPicPr>
        <p:blipFill>
          <a:blip r:embed="rId3"/>
          <a:srcRect/>
          <a:stretch/>
        </p:blipFill>
        <p:spPr>
          <a:xfrm>
            <a:off x="721681" y="1630077"/>
            <a:ext cx="5781042" cy="4335781"/>
          </a:xfrm>
          <a:prstGeom prst="rect">
            <a:avLst/>
          </a:prstGeom>
        </p:spPr>
      </p:pic>
      <p:pic>
        <p:nvPicPr>
          <p:cNvPr id="5" name="Resim 4">
            <a:extLst>
              <a:ext uri="{FF2B5EF4-FFF2-40B4-BE49-F238E27FC236}">
                <a16:creationId xmlns:a16="http://schemas.microsoft.com/office/drawing/2014/main" id="{8C72DB0E-4E82-94E9-2061-52C1E448E7BB}"/>
              </a:ext>
            </a:extLst>
          </p:cNvPr>
          <p:cNvPicPr>
            <a:picLocks noChangeAspect="1"/>
          </p:cNvPicPr>
          <p:nvPr/>
        </p:nvPicPr>
        <p:blipFill>
          <a:blip r:embed="rId4"/>
          <a:srcRect/>
          <a:stretch/>
        </p:blipFill>
        <p:spPr>
          <a:xfrm>
            <a:off x="6874851" y="1042474"/>
            <a:ext cx="4133239" cy="2755493"/>
          </a:xfrm>
          <a:prstGeom prst="rect">
            <a:avLst/>
          </a:prstGeom>
        </p:spPr>
      </p:pic>
      <p:pic>
        <p:nvPicPr>
          <p:cNvPr id="6" name="Resim 5">
            <a:extLst>
              <a:ext uri="{FF2B5EF4-FFF2-40B4-BE49-F238E27FC236}">
                <a16:creationId xmlns:a16="http://schemas.microsoft.com/office/drawing/2014/main" id="{E71F1CFB-9FBD-6DEB-3443-BB196FDD9969}"/>
              </a:ext>
            </a:extLst>
          </p:cNvPr>
          <p:cNvPicPr>
            <a:picLocks noChangeAspect="1"/>
          </p:cNvPicPr>
          <p:nvPr/>
        </p:nvPicPr>
        <p:blipFill>
          <a:blip r:embed="rId5"/>
          <a:srcRect/>
          <a:stretch/>
        </p:blipFill>
        <p:spPr>
          <a:xfrm>
            <a:off x="6874850" y="3919192"/>
            <a:ext cx="4133241" cy="2694933"/>
          </a:xfrm>
          <a:prstGeom prst="rect">
            <a:avLst/>
          </a:prstGeom>
        </p:spPr>
      </p:pic>
    </p:spTree>
    <p:extLst>
      <p:ext uri="{BB962C8B-B14F-4D97-AF65-F5344CB8AC3E}">
        <p14:creationId xmlns:p14="http://schemas.microsoft.com/office/powerpoint/2010/main" val="448823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A368-7EE3-4E19-14CB-414A702FB0DA}"/>
            </a:ext>
          </a:extLst>
        </p:cNvPr>
        <p:cNvGrpSpPr/>
        <p:nvPr/>
      </p:nvGrpSpPr>
      <p:grpSpPr>
        <a:xfrm>
          <a:off x="0" y="0"/>
          <a:ext cx="0" cy="0"/>
          <a:chOff x="0" y="0"/>
          <a:chExt cx="0" cy="0"/>
        </a:xfrm>
      </p:grpSpPr>
      <p:sp>
        <p:nvSpPr>
          <p:cNvPr id="4" name="Başlık 3">
            <a:extLst>
              <a:ext uri="{FF2B5EF4-FFF2-40B4-BE49-F238E27FC236}">
                <a16:creationId xmlns:a16="http://schemas.microsoft.com/office/drawing/2014/main" id="{D5135171-054F-397A-D6ED-F3F34D1549BD}"/>
              </a:ext>
            </a:extLst>
          </p:cNvPr>
          <p:cNvSpPr>
            <a:spLocks noGrp="1"/>
          </p:cNvSpPr>
          <p:nvPr>
            <p:ph type="title"/>
          </p:nvPr>
        </p:nvSpPr>
        <p:spPr>
          <a:xfrm>
            <a:off x="838200" y="369939"/>
            <a:ext cx="10515600" cy="576943"/>
          </a:xfrm>
        </p:spPr>
        <p:txBody>
          <a:bodyPr lIns="0" rtlCol="0"/>
          <a:lstStyle/>
          <a:p>
            <a:pPr algn="ctr" rtl="0"/>
            <a:r>
              <a:rPr lang="tr-TR" sz="2800" b="1" noProof="1"/>
              <a:t>MULTİNOMİAL NAİVE BAYES</a:t>
            </a:r>
            <a:endParaRPr lang="tr-TR" b="1" dirty="0"/>
          </a:p>
        </p:txBody>
      </p:sp>
      <p:cxnSp>
        <p:nvCxnSpPr>
          <p:cNvPr id="10" name="Düz Bağlayıcı 9">
            <a:extLst>
              <a:ext uri="{FF2B5EF4-FFF2-40B4-BE49-F238E27FC236}">
                <a16:creationId xmlns:a16="http://schemas.microsoft.com/office/drawing/2014/main" id="{2A5E1699-08AB-753C-F54E-45A862B11232}"/>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Düz Bağlayıcı 11">
            <a:extLst>
              <a:ext uri="{FF2B5EF4-FFF2-40B4-BE49-F238E27FC236}">
                <a16:creationId xmlns:a16="http://schemas.microsoft.com/office/drawing/2014/main" id="{3A5E6347-F53D-99EC-262E-E5D32B245061}"/>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Resim 7">
            <a:extLst>
              <a:ext uri="{FF2B5EF4-FFF2-40B4-BE49-F238E27FC236}">
                <a16:creationId xmlns:a16="http://schemas.microsoft.com/office/drawing/2014/main" id="{4B02C042-CAE5-6EFE-F3D5-BDC791C4D01F}"/>
              </a:ext>
            </a:extLst>
          </p:cNvPr>
          <p:cNvPicPr>
            <a:picLocks noChangeAspect="1"/>
          </p:cNvPicPr>
          <p:nvPr/>
        </p:nvPicPr>
        <p:blipFill>
          <a:blip r:embed="rId3"/>
          <a:srcRect/>
          <a:stretch/>
        </p:blipFill>
        <p:spPr>
          <a:xfrm>
            <a:off x="721681" y="1630077"/>
            <a:ext cx="5781042" cy="4335782"/>
          </a:xfrm>
          <a:prstGeom prst="rect">
            <a:avLst/>
          </a:prstGeom>
        </p:spPr>
      </p:pic>
      <p:pic>
        <p:nvPicPr>
          <p:cNvPr id="11" name="Resim 10">
            <a:extLst>
              <a:ext uri="{FF2B5EF4-FFF2-40B4-BE49-F238E27FC236}">
                <a16:creationId xmlns:a16="http://schemas.microsoft.com/office/drawing/2014/main" id="{7B0B3B6D-C955-6E4B-3772-4213C427A0C4}"/>
              </a:ext>
            </a:extLst>
          </p:cNvPr>
          <p:cNvPicPr>
            <a:picLocks noChangeAspect="1"/>
          </p:cNvPicPr>
          <p:nvPr/>
        </p:nvPicPr>
        <p:blipFill>
          <a:blip r:embed="rId4"/>
          <a:srcRect/>
          <a:stretch/>
        </p:blipFill>
        <p:spPr>
          <a:xfrm>
            <a:off x="6874850" y="1042474"/>
            <a:ext cx="4133241" cy="2755493"/>
          </a:xfrm>
          <a:prstGeom prst="rect">
            <a:avLst/>
          </a:prstGeom>
        </p:spPr>
      </p:pic>
      <p:pic>
        <p:nvPicPr>
          <p:cNvPr id="14" name="Resim 13">
            <a:extLst>
              <a:ext uri="{FF2B5EF4-FFF2-40B4-BE49-F238E27FC236}">
                <a16:creationId xmlns:a16="http://schemas.microsoft.com/office/drawing/2014/main" id="{81DDCA47-34DC-50A3-A88B-3B1BFDB8215A}"/>
              </a:ext>
            </a:extLst>
          </p:cNvPr>
          <p:cNvPicPr>
            <a:picLocks noChangeAspect="1"/>
          </p:cNvPicPr>
          <p:nvPr/>
        </p:nvPicPr>
        <p:blipFill>
          <a:blip r:embed="rId5"/>
          <a:srcRect/>
          <a:stretch/>
        </p:blipFill>
        <p:spPr>
          <a:xfrm>
            <a:off x="6896195" y="3893560"/>
            <a:ext cx="4090550" cy="2755494"/>
          </a:xfrm>
          <a:prstGeom prst="rect">
            <a:avLst/>
          </a:prstGeom>
        </p:spPr>
      </p:pic>
    </p:spTree>
    <p:extLst>
      <p:ext uri="{BB962C8B-B14F-4D97-AF65-F5344CB8AC3E}">
        <p14:creationId xmlns:p14="http://schemas.microsoft.com/office/powerpoint/2010/main" val="3851750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605AF1-623C-4E09-AB5D-8DD0571489F6}"/>
              </a:ext>
            </a:extLst>
          </p:cNvPr>
          <p:cNvSpPr>
            <a:spLocks noGrp="1"/>
          </p:cNvSpPr>
          <p:nvPr>
            <p:ph type="title"/>
          </p:nvPr>
        </p:nvSpPr>
        <p:spPr>
          <a:xfrm>
            <a:off x="3726426" y="385857"/>
            <a:ext cx="7954297" cy="567872"/>
          </a:xfrm>
        </p:spPr>
        <p:txBody>
          <a:bodyPr rtlCol="0">
            <a:normAutofit/>
          </a:bodyPr>
          <a:lstStyle/>
          <a:p>
            <a:pPr algn="ctr" rtl="0"/>
            <a:r>
              <a:rPr lang="tr-TR" b="1" dirty="0"/>
              <a:t>Modelin Karşılaştırılması</a:t>
            </a:r>
          </a:p>
        </p:txBody>
      </p:sp>
      <p:pic>
        <p:nvPicPr>
          <p:cNvPr id="4" name="Resim 3">
            <a:extLst>
              <a:ext uri="{FF2B5EF4-FFF2-40B4-BE49-F238E27FC236}">
                <a16:creationId xmlns:a16="http://schemas.microsoft.com/office/drawing/2014/main" id="{23647ACC-6BCF-3FE2-3248-D0AEAB130767}"/>
              </a:ext>
            </a:extLst>
          </p:cNvPr>
          <p:cNvPicPr>
            <a:picLocks noChangeAspect="1"/>
          </p:cNvPicPr>
          <p:nvPr/>
        </p:nvPicPr>
        <p:blipFill>
          <a:blip r:embed="rId3"/>
          <a:stretch>
            <a:fillRect/>
          </a:stretch>
        </p:blipFill>
        <p:spPr>
          <a:xfrm>
            <a:off x="0" y="1210339"/>
            <a:ext cx="12192000" cy="4437321"/>
          </a:xfrm>
          <a:prstGeom prst="rect">
            <a:avLst/>
          </a:prstGeom>
        </p:spPr>
      </p:pic>
    </p:spTree>
    <p:extLst>
      <p:ext uri="{BB962C8B-B14F-4D97-AF65-F5344CB8AC3E}">
        <p14:creationId xmlns:p14="http://schemas.microsoft.com/office/powerpoint/2010/main" val="1472106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CAEE93-8585-46D4-A7EC-F184E317CB2E}"/>
              </a:ext>
            </a:extLst>
          </p:cNvPr>
          <p:cNvSpPr>
            <a:spLocks noGrp="1"/>
          </p:cNvSpPr>
          <p:nvPr>
            <p:ph type="ctrTitle"/>
          </p:nvPr>
        </p:nvSpPr>
        <p:spPr>
          <a:xfrm>
            <a:off x="3303638" y="3055384"/>
            <a:ext cx="8288594" cy="567813"/>
          </a:xfrm>
        </p:spPr>
        <p:txBody>
          <a:bodyPr rtlCol="0"/>
          <a:lstStyle/>
          <a:p>
            <a:pPr rtl="0"/>
            <a:r>
              <a:rPr lang="tr-TR" sz="3000" dirty="0"/>
              <a:t>Beni dinlediğiniz için TEŞEKKÜRLER</a:t>
            </a:r>
          </a:p>
        </p:txBody>
      </p:sp>
      <p:sp>
        <p:nvSpPr>
          <p:cNvPr id="3" name="İçerik Yer Tutucusu 2">
            <a:extLst>
              <a:ext uri="{FF2B5EF4-FFF2-40B4-BE49-F238E27FC236}">
                <a16:creationId xmlns:a16="http://schemas.microsoft.com/office/drawing/2014/main" id="{24AFFC60-19C3-4901-93F7-7AAF4C09F8C6}"/>
              </a:ext>
            </a:extLst>
          </p:cNvPr>
          <p:cNvSpPr>
            <a:spLocks noGrp="1"/>
          </p:cNvSpPr>
          <p:nvPr>
            <p:ph type="subTitle" idx="1"/>
          </p:nvPr>
        </p:nvSpPr>
        <p:spPr>
          <a:xfrm>
            <a:off x="8930675" y="3639122"/>
            <a:ext cx="2661557" cy="479427"/>
          </a:xfrm>
        </p:spPr>
        <p:txBody>
          <a:bodyPr rtlCol="0">
            <a:normAutofit/>
          </a:bodyPr>
          <a:lstStyle/>
          <a:p>
            <a:pPr rtl="0"/>
            <a:r>
              <a:rPr lang="tr-TR" dirty="0"/>
              <a:t>Esat DÜNDAR - 220610035</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Tek Çizgili">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8877_TF22318419_Win32" id="{53341AA4-6F95-4EB6-81E0-A506E22DE5A3}" vid="{103D588D-55EF-41EB-93E0-001907867DD5}"/>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3.xml><?xml version="1.0" encoding="utf-8"?>
<ds:datastoreItem xmlns:ds="http://schemas.openxmlformats.org/officeDocument/2006/customXml" ds:itemID="{B5BA3906-9696-4247-AC0D-DD5C26B2A70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 satış tanıtımı</Template>
  <TotalTime>502</TotalTime>
  <Words>1157</Words>
  <Application>Microsoft Office PowerPoint</Application>
  <PresentationFormat>Geniş ekran</PresentationFormat>
  <Paragraphs>86</Paragraphs>
  <Slides>24</Slides>
  <Notes>24</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24</vt:i4>
      </vt:variant>
    </vt:vector>
  </HeadingPairs>
  <TitlesOfParts>
    <vt:vector size="28" baseType="lpstr">
      <vt:lpstr>Aptos</vt:lpstr>
      <vt:lpstr>Arial</vt:lpstr>
      <vt:lpstr>Calibri</vt:lpstr>
      <vt:lpstr>Tek Çizgili</vt:lpstr>
      <vt:lpstr>Makine öğrenmesi - NLP ile Metinden Anksiyete ANALİZİ</vt:lpstr>
      <vt:lpstr>Projenin  Amacı ve Önemi</vt:lpstr>
      <vt:lpstr>PowerPoint Sunusu</vt:lpstr>
      <vt:lpstr>Veri Seti</vt:lpstr>
      <vt:lpstr>Veri Analizinde Kullanılan Yöntemler</vt:lpstr>
      <vt:lpstr>Veri işleme ve ön hazırlık</vt:lpstr>
      <vt:lpstr>Normal METİNLERİNDE en sık GEÇEN KELİMELER</vt:lpstr>
      <vt:lpstr>ANKSİYETE METİNLERİNDE en sık GEÇEN KELİMELER</vt:lpstr>
      <vt:lpstr>YAPAY ZEKA Modellerinin OLUŞTURULMASI ve Eğitilmesi </vt:lpstr>
      <vt:lpstr>Projedeki Makine Öğrenmesi Algoritmaları</vt:lpstr>
      <vt:lpstr>LOGİSTİC REGRESSİON</vt:lpstr>
      <vt:lpstr>Random Forest</vt:lpstr>
      <vt:lpstr>LİNEAR-SVM</vt:lpstr>
      <vt:lpstr>RBF-SVM</vt:lpstr>
      <vt:lpstr>MULTİNOMİAL NAİVE BAYES</vt:lpstr>
      <vt:lpstr>YAPAY ZEKA MODELLerinin DEĞERlendirilmesi</vt:lpstr>
      <vt:lpstr>Değerlendirme Metrikleri</vt:lpstr>
      <vt:lpstr>LOGİSTİC REGRESSİON</vt:lpstr>
      <vt:lpstr>Random Forest</vt:lpstr>
      <vt:lpstr>LİNEAR-SVM</vt:lpstr>
      <vt:lpstr>RBF-SVM</vt:lpstr>
      <vt:lpstr>MULTİNOMİAL NAİVE BAYES</vt:lpstr>
      <vt:lpstr>Modelin Karşılaştırılması</vt:lpstr>
      <vt:lpstr>Beni dinlediğiniz için 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Esat Dundar</dc:creator>
  <cp:lastModifiedBy>Esat Dundar</cp:lastModifiedBy>
  <cp:revision>383</cp:revision>
  <dcterms:created xsi:type="dcterms:W3CDTF">2024-12-09T18:02:33Z</dcterms:created>
  <dcterms:modified xsi:type="dcterms:W3CDTF">2025-05-27T21:03:06Z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